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7" r:id="rId1"/>
  </p:sldMasterIdLst>
  <p:notesMasterIdLst>
    <p:notesMasterId r:id="rId51"/>
  </p:notesMasterIdLst>
  <p:handoutMasterIdLst>
    <p:handoutMasterId r:id="rId52"/>
  </p:handoutMasterIdLst>
  <p:sldIdLst>
    <p:sldId id="731" r:id="rId2"/>
    <p:sldId id="733" r:id="rId3"/>
    <p:sldId id="734" r:id="rId4"/>
    <p:sldId id="817" r:id="rId5"/>
    <p:sldId id="837" r:id="rId6"/>
    <p:sldId id="838" r:id="rId7"/>
    <p:sldId id="839" r:id="rId8"/>
    <p:sldId id="840" r:id="rId9"/>
    <p:sldId id="846" r:id="rId10"/>
    <p:sldId id="847" r:id="rId11"/>
    <p:sldId id="848" r:id="rId12"/>
    <p:sldId id="849" r:id="rId13"/>
    <p:sldId id="850" r:id="rId14"/>
    <p:sldId id="851" r:id="rId15"/>
    <p:sldId id="841" r:id="rId16"/>
    <p:sldId id="852" r:id="rId17"/>
    <p:sldId id="853" r:id="rId18"/>
    <p:sldId id="872" r:id="rId19"/>
    <p:sldId id="854" r:id="rId20"/>
    <p:sldId id="855" r:id="rId21"/>
    <p:sldId id="856" r:id="rId22"/>
    <p:sldId id="842" r:id="rId23"/>
    <p:sldId id="857" r:id="rId24"/>
    <p:sldId id="858" r:id="rId25"/>
    <p:sldId id="859" r:id="rId26"/>
    <p:sldId id="871" r:id="rId27"/>
    <p:sldId id="860" r:id="rId28"/>
    <p:sldId id="861" r:id="rId29"/>
    <p:sldId id="843" r:id="rId30"/>
    <p:sldId id="862" r:id="rId31"/>
    <p:sldId id="863" r:id="rId32"/>
    <p:sldId id="876" r:id="rId33"/>
    <p:sldId id="864" r:id="rId34"/>
    <p:sldId id="865" r:id="rId35"/>
    <p:sldId id="866" r:id="rId36"/>
    <p:sldId id="870" r:id="rId37"/>
    <p:sldId id="867" r:id="rId38"/>
    <p:sldId id="868" r:id="rId39"/>
    <p:sldId id="877" r:id="rId40"/>
    <p:sldId id="844" r:id="rId41"/>
    <p:sldId id="869" r:id="rId42"/>
    <p:sldId id="845" r:id="rId43"/>
    <p:sldId id="874" r:id="rId44"/>
    <p:sldId id="875" r:id="rId45"/>
    <p:sldId id="881" r:id="rId46"/>
    <p:sldId id="878" r:id="rId47"/>
    <p:sldId id="879" r:id="rId48"/>
    <p:sldId id="880" r:id="rId49"/>
    <p:sldId id="742" r:id="rId50"/>
  </p:sldIdLst>
  <p:sldSz cx="12192000" cy="6858000"/>
  <p:notesSz cx="6761163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57AE"/>
    <a:srgbClr val="2E75B6"/>
    <a:srgbClr val="1F4E79"/>
    <a:srgbClr val="0070C0"/>
    <a:srgbClr val="4269BD"/>
    <a:srgbClr val="E97C30"/>
    <a:srgbClr val="3A97D7"/>
    <a:srgbClr val="E87E04"/>
    <a:srgbClr val="FFC000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816" autoAdjust="0"/>
  </p:normalViewPr>
  <p:slideViewPr>
    <p:cSldViewPr snapToGrid="0">
      <p:cViewPr varScale="1">
        <p:scale>
          <a:sx n="109" d="100"/>
          <a:sy n="109" d="100"/>
        </p:scale>
        <p:origin x="108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248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1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155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00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1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436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100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035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24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915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575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709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66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133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9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735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094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24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64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49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192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732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189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121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076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7069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941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489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7490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2055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8922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8298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7143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528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0560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553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395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1374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465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887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6828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082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63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2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6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8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5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1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9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81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6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4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983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005234" y="4075114"/>
            <a:ext cx="4186767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756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/>
          <p:cNvSpPr/>
          <p:nvPr userDrawn="1"/>
        </p:nvSpPr>
        <p:spPr>
          <a:xfrm rot="5400000">
            <a:off x="60435" y="155690"/>
            <a:ext cx="739101" cy="859973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711759" y="502220"/>
            <a:ext cx="739101" cy="166915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流程图: 过程 7"/>
          <p:cNvSpPr/>
          <p:nvPr userDrawn="1"/>
        </p:nvSpPr>
        <p:spPr>
          <a:xfrm rot="5400000">
            <a:off x="6010268" y="676276"/>
            <a:ext cx="171450" cy="12192001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流程图: 过程 8"/>
          <p:cNvSpPr/>
          <p:nvPr userDrawn="1"/>
        </p:nvSpPr>
        <p:spPr>
          <a:xfrm rot="5400000" flipH="1">
            <a:off x="10966890" y="5584839"/>
            <a:ext cx="327501" cy="212270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6" r="53951"/>
          <a:stretch/>
        </p:blipFill>
        <p:spPr>
          <a:xfrm>
            <a:off x="10439400" y="6523382"/>
            <a:ext cx="1538888" cy="3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45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54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矩形 3"/>
          <p:cNvSpPr/>
          <p:nvPr userDrawn="1"/>
        </p:nvSpPr>
        <p:spPr>
          <a:xfrm>
            <a:off x="7873272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163" y="1"/>
            <a:ext cx="3182988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11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454177" y="-19430"/>
            <a:ext cx="812329" cy="1066991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394816" y="195665"/>
            <a:ext cx="825512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95912" y="107902"/>
            <a:ext cx="150523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10236874" y="4902521"/>
            <a:ext cx="324399" cy="358585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8893022" y="6602968"/>
            <a:ext cx="3227333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西安交通大学数据与信息中心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4432463" y="2253652"/>
            <a:ext cx="171533" cy="9036459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2333803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t="140" r="-477" b="11636"/>
          <a:stretch/>
        </p:blipFill>
        <p:spPr>
          <a:xfrm>
            <a:off x="-19351" y="0"/>
            <a:ext cx="12269409" cy="558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-1"/>
            <a:ext cx="12114591" cy="5529943"/>
          </a:xfrm>
          <a:prstGeom prst="rect">
            <a:avLst/>
          </a:prstGeom>
          <a:solidFill>
            <a:srgbClr val="384A5A">
              <a:alpha val="5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24" y="-79685"/>
            <a:ext cx="3610577" cy="104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1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40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55" r:id="rId14"/>
    <p:sldLayoutId id="2147483651" r:id="rId15"/>
    <p:sldLayoutId id="2147483653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1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4" Type="http://schemas.openxmlformats.org/officeDocument/2006/relationships/image" Target="../media/image2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5466557"/>
            <a:ext cx="12191999" cy="1164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</a:pPr>
            <a:r>
              <a:rPr lang="zh-CN" altLang="en-US" sz="2000" kern="100" dirty="0">
                <a:solidFill>
                  <a:srgbClr val="1557AE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答辩人：李佳轩</a:t>
            </a:r>
            <a:endParaRPr lang="en-US" altLang="zh-CN" sz="2000" kern="100" dirty="0">
              <a:solidFill>
                <a:srgbClr val="1557AE"/>
              </a:solidFill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ctr">
              <a:lnSpc>
                <a:spcPct val="120000"/>
              </a:lnSpc>
            </a:pPr>
            <a:r>
              <a:rPr lang="zh-CN" altLang="en-US" sz="2000" kern="100" dirty="0">
                <a:solidFill>
                  <a:srgbClr val="1557AE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指导教师：朱晓燕</a:t>
            </a:r>
            <a:endParaRPr lang="en-US" altLang="zh-CN" sz="2000" kern="100" dirty="0">
              <a:solidFill>
                <a:srgbClr val="1557AE"/>
              </a:solidFill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ctr">
              <a:lnSpc>
                <a:spcPct val="120000"/>
              </a:lnSpc>
            </a:pPr>
            <a:r>
              <a:rPr lang="zh-CN" altLang="en-US" sz="2000" kern="100" dirty="0">
                <a:solidFill>
                  <a:srgbClr val="1557AE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答辩时间</a:t>
            </a:r>
            <a:r>
              <a:rPr lang="zh-CN" altLang="en-US" sz="2000" kern="100">
                <a:solidFill>
                  <a:srgbClr val="1557AE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2025.2.13</a:t>
            </a:r>
            <a:endParaRPr lang="en-US" altLang="zh-CN" sz="2000" kern="100" dirty="0">
              <a:solidFill>
                <a:srgbClr val="1557A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72000"/>
            <a:ext cx="3088800" cy="108504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E07F55F-B30D-40A6-90A3-5DAD7896880C}"/>
              </a:ext>
            </a:extLst>
          </p:cNvPr>
          <p:cNvGrpSpPr/>
          <p:nvPr/>
        </p:nvGrpSpPr>
        <p:grpSpPr>
          <a:xfrm>
            <a:off x="1" y="1482811"/>
            <a:ext cx="12192000" cy="2858530"/>
            <a:chOff x="1523999" y="1482811"/>
            <a:chExt cx="9144001" cy="2858530"/>
          </a:xfrm>
        </p:grpSpPr>
        <p:sp>
          <p:nvSpPr>
            <p:cNvPr id="6" name="矩形 5"/>
            <p:cNvSpPr/>
            <p:nvPr/>
          </p:nvSpPr>
          <p:spPr>
            <a:xfrm>
              <a:off x="1524000" y="1482811"/>
              <a:ext cx="9144000" cy="2858530"/>
            </a:xfrm>
            <a:prstGeom prst="rect">
              <a:avLst/>
            </a:prstGeom>
            <a:solidFill>
              <a:srgbClr val="1557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1524000" y="1482812"/>
              <a:ext cx="1565429" cy="50674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indent="127000">
                <a:lnSpc>
                  <a:spcPct val="120000"/>
                </a:lnSpc>
              </a:pPr>
              <a:r>
                <a:rPr lang="zh-CN" altLang="en-US" sz="2400" b="1" kern="1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毕业答辩</a:t>
              </a:r>
              <a:endParaRPr lang="en-US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D2B699E-2B3A-4CB1-BC6F-A13E10754300}"/>
                </a:ext>
              </a:extLst>
            </p:cNvPr>
            <p:cNvSpPr/>
            <p:nvPr/>
          </p:nvSpPr>
          <p:spPr>
            <a:xfrm>
              <a:off x="1523999" y="1905460"/>
              <a:ext cx="9144001" cy="200676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indent="127000" algn="ctr">
                <a:lnSpc>
                  <a:spcPct val="120000"/>
                </a:lnSpc>
              </a:pPr>
              <a:r>
                <a:rPr lang="zh-CN" altLang="en-US" sz="5400" b="1" kern="1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基于集成</a:t>
              </a:r>
              <a:r>
                <a:rPr lang="zh-CN" altLang="en-US" sz="5400" b="1" kern="1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学习的</a:t>
              </a:r>
              <a:endParaRPr lang="en-US" altLang="zh-CN" sz="5400" b="1" kern="1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indent="127000" algn="ctr">
                <a:lnSpc>
                  <a:spcPct val="120000"/>
                </a:lnSpc>
              </a:pPr>
              <a:r>
                <a:rPr lang="zh-CN" altLang="en-US" sz="5400" b="1" kern="1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多标签学习算法研究</a:t>
              </a:r>
              <a:endParaRPr lang="zh-CN" altLang="zh-CN" sz="5400" b="1" kern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916403E-A910-434A-A2F3-CB59541F8B39}"/>
              </a:ext>
            </a:extLst>
          </p:cNvPr>
          <p:cNvSpPr/>
          <p:nvPr/>
        </p:nvSpPr>
        <p:spPr>
          <a:xfrm>
            <a:off x="9223385" y="0"/>
            <a:ext cx="2955517" cy="43204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>
              <a:lnSpc>
                <a:spcPct val="120000"/>
              </a:lnSpc>
            </a:pPr>
            <a:r>
              <a:rPr lang="zh-CN" altLang="en-US" sz="2000" b="1" kern="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计算机科学与技术学院</a:t>
            </a:r>
            <a:endParaRPr lang="en-US" altLang="zh-CN" sz="2000" b="1" kern="1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19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0800000">
            <a:off x="3116048" y="120448"/>
            <a:ext cx="5904127" cy="1116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926578" y="306941"/>
            <a:ext cx="233884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000" dirty="0">
              <a:solidFill>
                <a:schemeClr val="bg1"/>
              </a:solidFill>
            </a:endParaRPr>
          </a:p>
        </p:txBody>
      </p:sp>
      <p:sp>
        <p:nvSpPr>
          <p:cNvPr id="4" name="任意多边形 3"/>
          <p:cNvSpPr/>
          <p:nvPr/>
        </p:nvSpPr>
        <p:spPr>
          <a:xfrm rot="10800000">
            <a:off x="0" y="0"/>
            <a:ext cx="12192000" cy="1241919"/>
          </a:xfrm>
          <a:custGeom>
            <a:avLst/>
            <a:gdLst>
              <a:gd name="connsiteX0" fmla="*/ 9144000 w 9144000"/>
              <a:gd name="connsiteY0" fmla="*/ 1241919 h 1241919"/>
              <a:gd name="connsiteX1" fmla="*/ 0 w 9144000"/>
              <a:gd name="connsiteY1" fmla="*/ 1241919 h 1241919"/>
              <a:gd name="connsiteX2" fmla="*/ 0 w 9144000"/>
              <a:gd name="connsiteY2" fmla="*/ 1061919 h 1241919"/>
              <a:gd name="connsiteX3" fmla="*/ 1762992 w 9144000"/>
              <a:gd name="connsiteY3" fmla="*/ 1061919 h 1241919"/>
              <a:gd name="connsiteX4" fmla="*/ 4572000 w 9144000"/>
              <a:gd name="connsiteY4" fmla="*/ 0 h 1241919"/>
              <a:gd name="connsiteX5" fmla="*/ 7381007 w 9144000"/>
              <a:gd name="connsiteY5" fmla="*/ 1061919 h 1241919"/>
              <a:gd name="connsiteX6" fmla="*/ 9144000 w 9144000"/>
              <a:gd name="connsiteY6" fmla="*/ 1061919 h 124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1241919">
                <a:moveTo>
                  <a:pt x="9144000" y="1241919"/>
                </a:moveTo>
                <a:lnTo>
                  <a:pt x="0" y="1241919"/>
                </a:lnTo>
                <a:lnTo>
                  <a:pt x="0" y="1061919"/>
                </a:lnTo>
                <a:lnTo>
                  <a:pt x="1762992" y="1061919"/>
                </a:lnTo>
                <a:lnTo>
                  <a:pt x="4572000" y="0"/>
                </a:lnTo>
                <a:lnTo>
                  <a:pt x="7381007" y="1061919"/>
                </a:lnTo>
                <a:lnTo>
                  <a:pt x="9144000" y="106191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748258" y="105966"/>
            <a:ext cx="2414956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CONTENS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10" name="KSO_Shape"/>
          <p:cNvSpPr>
            <a:spLocks/>
          </p:cNvSpPr>
          <p:nvPr/>
        </p:nvSpPr>
        <p:spPr bwMode="auto">
          <a:xfrm>
            <a:off x="2009775" y="5147786"/>
            <a:ext cx="1334873" cy="1243722"/>
          </a:xfrm>
          <a:custGeom>
            <a:avLst/>
            <a:gdLst>
              <a:gd name="T0" fmla="*/ 1221908 w 2276475"/>
              <a:gd name="T1" fmla="*/ 1328927 h 1936751"/>
              <a:gd name="T2" fmla="*/ 1196654 w 2276475"/>
              <a:gd name="T3" fmla="*/ 1388292 h 1936751"/>
              <a:gd name="T4" fmla="*/ 691864 w 2276475"/>
              <a:gd name="T5" fmla="*/ 1376845 h 1936751"/>
              <a:gd name="T6" fmla="*/ 695585 w 2276475"/>
              <a:gd name="T7" fmla="*/ 1314285 h 1936751"/>
              <a:gd name="T8" fmla="*/ 1104489 w 2276475"/>
              <a:gd name="T9" fmla="*/ 1115137 h 1936751"/>
              <a:gd name="T10" fmla="*/ 1117497 w 2276475"/>
              <a:gd name="T11" fmla="*/ 1168850 h 1936751"/>
              <a:gd name="T12" fmla="*/ 811396 w 2276475"/>
              <a:gd name="T13" fmla="*/ 1188695 h 1936751"/>
              <a:gd name="T14" fmla="*/ 783254 w 2276475"/>
              <a:gd name="T15" fmla="*/ 1141068 h 1936751"/>
              <a:gd name="T16" fmla="*/ 309026 w 2276475"/>
              <a:gd name="T17" fmla="*/ 898551 h 1936751"/>
              <a:gd name="T18" fmla="*/ 798665 w 2276475"/>
              <a:gd name="T19" fmla="*/ 935449 h 1936751"/>
              <a:gd name="T20" fmla="*/ 759855 w 2276475"/>
              <a:gd name="T21" fmla="*/ 989335 h 1936751"/>
              <a:gd name="T22" fmla="*/ 259317 w 2276475"/>
              <a:gd name="T23" fmla="*/ 967303 h 1936751"/>
              <a:gd name="T24" fmla="*/ 277393 w 2276475"/>
              <a:gd name="T25" fmla="*/ 906514 h 1936751"/>
              <a:gd name="T26" fmla="*/ 1086287 w 2276475"/>
              <a:gd name="T27" fmla="*/ 817903 h 1936751"/>
              <a:gd name="T28" fmla="*/ 1028372 w 2276475"/>
              <a:gd name="T29" fmla="*/ 919230 h 1936751"/>
              <a:gd name="T30" fmla="*/ 999280 w 2276475"/>
              <a:gd name="T31" fmla="*/ 917630 h 1936751"/>
              <a:gd name="T32" fmla="*/ 289574 w 2276475"/>
              <a:gd name="T33" fmla="*/ 706099 h 1936751"/>
              <a:gd name="T34" fmla="*/ 590631 w 2276475"/>
              <a:gd name="T35" fmla="*/ 735033 h 1936751"/>
              <a:gd name="T36" fmla="*/ 567535 w 2276475"/>
              <a:gd name="T37" fmla="*/ 784938 h 1936751"/>
              <a:gd name="T38" fmla="*/ 259309 w 2276475"/>
              <a:gd name="T39" fmla="*/ 770073 h 1936751"/>
              <a:gd name="T40" fmla="*/ 267273 w 2276475"/>
              <a:gd name="T41" fmla="*/ 715124 h 1936751"/>
              <a:gd name="T42" fmla="*/ 836933 w 2276475"/>
              <a:gd name="T43" fmla="*/ 505684 h 1936751"/>
              <a:gd name="T44" fmla="*/ 846494 w 2276475"/>
              <a:gd name="T45" fmla="*/ 574170 h 1936751"/>
              <a:gd name="T46" fmla="*/ 268069 w 2276475"/>
              <a:gd name="T47" fmla="*/ 592752 h 1936751"/>
              <a:gd name="T48" fmla="*/ 238855 w 2276475"/>
              <a:gd name="T49" fmla="*/ 530105 h 1936751"/>
              <a:gd name="T50" fmla="*/ 1467818 w 2276475"/>
              <a:gd name="T51" fmla="*/ 344025 h 1936751"/>
              <a:gd name="T52" fmla="*/ 1566759 w 2276475"/>
              <a:gd name="T53" fmla="*/ 428438 h 1936751"/>
              <a:gd name="T54" fmla="*/ 1578461 w 2276475"/>
              <a:gd name="T55" fmla="*/ 479936 h 1936751"/>
              <a:gd name="T56" fmla="*/ 1197862 w 2276475"/>
              <a:gd name="T57" fmla="*/ 846789 h 1936751"/>
              <a:gd name="T58" fmla="*/ 1138817 w 2276475"/>
              <a:gd name="T59" fmla="*/ 842806 h 1936751"/>
              <a:gd name="T60" fmla="*/ 1093869 w 2276475"/>
              <a:gd name="T61" fmla="*/ 799538 h 1936751"/>
              <a:gd name="T62" fmla="*/ 1075782 w 2276475"/>
              <a:gd name="T63" fmla="*/ 737423 h 1936751"/>
              <a:gd name="T64" fmla="*/ 1456382 w 2276475"/>
              <a:gd name="T65" fmla="*/ 344821 h 1936751"/>
              <a:gd name="T66" fmla="*/ 199469 w 2276475"/>
              <a:gd name="T67" fmla="*/ 367345 h 1936751"/>
              <a:gd name="T68" fmla="*/ 114475 w 2276475"/>
              <a:gd name="T69" fmla="*/ 448541 h 1936751"/>
              <a:gd name="T70" fmla="*/ 103321 w 2276475"/>
              <a:gd name="T71" fmla="*/ 1407238 h 1936751"/>
              <a:gd name="T72" fmla="*/ 171315 w 2276475"/>
              <a:gd name="T73" fmla="*/ 1503559 h 1936751"/>
              <a:gd name="T74" fmla="*/ 1382734 w 2276475"/>
              <a:gd name="T75" fmla="*/ 1530890 h 1936751"/>
              <a:gd name="T76" fmla="*/ 1488975 w 2276475"/>
              <a:gd name="T77" fmla="*/ 1477289 h 1936751"/>
              <a:gd name="T78" fmla="*/ 1531737 w 2276475"/>
              <a:gd name="T79" fmla="*/ 1365845 h 1936751"/>
              <a:gd name="T80" fmla="*/ 1605841 w 2276475"/>
              <a:gd name="T81" fmla="*/ 1539381 h 1936751"/>
              <a:gd name="T82" fmla="*/ 1513146 w 2276475"/>
              <a:gd name="T83" fmla="*/ 1611821 h 1936751"/>
              <a:gd name="T84" fmla="*/ 101461 w 2276475"/>
              <a:gd name="T85" fmla="*/ 1605982 h 1936751"/>
              <a:gd name="T86" fmla="*/ 16468 w 2276475"/>
              <a:gd name="T87" fmla="*/ 1525317 h 1936751"/>
              <a:gd name="T88" fmla="*/ 5312 w 2276475"/>
              <a:gd name="T89" fmla="*/ 391226 h 1936751"/>
              <a:gd name="T90" fmla="*/ 73307 w 2276475"/>
              <a:gd name="T91" fmla="*/ 295170 h 1936751"/>
              <a:gd name="T92" fmla="*/ 1746529 w 2276475"/>
              <a:gd name="T93" fmla="*/ 88926 h 1936751"/>
              <a:gd name="T94" fmla="*/ 1805153 w 2276475"/>
              <a:gd name="T95" fmla="*/ 114614 h 1936751"/>
              <a:gd name="T96" fmla="*/ 1838312 w 2276475"/>
              <a:gd name="T97" fmla="*/ 176846 h 1936751"/>
              <a:gd name="T98" fmla="*/ 1821600 w 2276475"/>
              <a:gd name="T99" fmla="*/ 237490 h 1936751"/>
              <a:gd name="T100" fmla="*/ 1620792 w 2276475"/>
              <a:gd name="T101" fmla="*/ 421806 h 1936751"/>
              <a:gd name="T102" fmla="*/ 1543068 w 2276475"/>
              <a:gd name="T103" fmla="*/ 339447 h 1936751"/>
              <a:gd name="T104" fmla="*/ 1506460 w 2276475"/>
              <a:gd name="T105" fmla="*/ 289925 h 1936751"/>
              <a:gd name="T106" fmla="*/ 1716818 w 2276475"/>
              <a:gd name="T107" fmla="*/ 92634 h 1936751"/>
              <a:gd name="T108" fmla="*/ 1893521 w 2276475"/>
              <a:gd name="T109" fmla="*/ 35131 h 1936751"/>
              <a:gd name="T110" fmla="*/ 1889783 w 2276475"/>
              <a:gd name="T111" fmla="*/ 106078 h 1936751"/>
              <a:gd name="T112" fmla="*/ 1844400 w 2276475"/>
              <a:gd name="T113" fmla="*/ 105545 h 1936751"/>
              <a:gd name="T114" fmla="*/ 1793944 w 2276475"/>
              <a:gd name="T115" fmla="*/ 59669 h 1936751"/>
              <a:gd name="T116" fmla="*/ 1847069 w 2276475"/>
              <a:gd name="T117" fmla="*/ 16194 h 1936751"/>
              <a:gd name="T118" fmla="*/ 1697756 w 2276475"/>
              <a:gd name="T119" fmla="*/ 22017 h 1936751"/>
              <a:gd name="T120" fmla="*/ 1364698 w 2276475"/>
              <a:gd name="T121" fmla="*/ 383050 h 1936751"/>
              <a:gd name="T122" fmla="*/ 1317840 w 2276475"/>
              <a:gd name="T123" fmla="*/ 375887 h 1936751"/>
              <a:gd name="T124" fmla="*/ 1320237 w 2276475"/>
              <a:gd name="T125" fmla="*/ 329200 h 193675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276475" h="1936751">
                <a:moveTo>
                  <a:pt x="872202" y="1555750"/>
                </a:moveTo>
                <a:lnTo>
                  <a:pt x="879190" y="1555750"/>
                </a:lnTo>
                <a:lnTo>
                  <a:pt x="1397284" y="1555750"/>
                </a:lnTo>
                <a:lnTo>
                  <a:pt x="1404272" y="1555750"/>
                </a:lnTo>
                <a:lnTo>
                  <a:pt x="1410943" y="1557024"/>
                </a:lnTo>
                <a:lnTo>
                  <a:pt x="1417614" y="1557979"/>
                </a:lnTo>
                <a:lnTo>
                  <a:pt x="1423649" y="1560208"/>
                </a:lnTo>
                <a:lnTo>
                  <a:pt x="1430002" y="1562437"/>
                </a:lnTo>
                <a:lnTo>
                  <a:pt x="1435403" y="1565303"/>
                </a:lnTo>
                <a:lnTo>
                  <a:pt x="1440485" y="1568168"/>
                </a:lnTo>
                <a:lnTo>
                  <a:pt x="1445567" y="1571989"/>
                </a:lnTo>
                <a:lnTo>
                  <a:pt x="1450015" y="1576128"/>
                </a:lnTo>
                <a:lnTo>
                  <a:pt x="1453509" y="1580268"/>
                </a:lnTo>
                <a:lnTo>
                  <a:pt x="1457321" y="1584726"/>
                </a:lnTo>
                <a:lnTo>
                  <a:pt x="1460180" y="1589502"/>
                </a:lnTo>
                <a:lnTo>
                  <a:pt x="1462403" y="1594915"/>
                </a:lnTo>
                <a:lnTo>
                  <a:pt x="1463674" y="1600009"/>
                </a:lnTo>
                <a:lnTo>
                  <a:pt x="1464944" y="1605741"/>
                </a:lnTo>
                <a:lnTo>
                  <a:pt x="1465262" y="1611472"/>
                </a:lnTo>
                <a:lnTo>
                  <a:pt x="1464944" y="1617203"/>
                </a:lnTo>
                <a:lnTo>
                  <a:pt x="1463674" y="1622935"/>
                </a:lnTo>
                <a:lnTo>
                  <a:pt x="1462403" y="1628029"/>
                </a:lnTo>
                <a:lnTo>
                  <a:pt x="1460180" y="1633124"/>
                </a:lnTo>
                <a:lnTo>
                  <a:pt x="1457321" y="1638218"/>
                </a:lnTo>
                <a:lnTo>
                  <a:pt x="1453509" y="1642358"/>
                </a:lnTo>
                <a:lnTo>
                  <a:pt x="1450015" y="1646815"/>
                </a:lnTo>
                <a:lnTo>
                  <a:pt x="1445567" y="1650955"/>
                </a:lnTo>
                <a:lnTo>
                  <a:pt x="1440485" y="1654457"/>
                </a:lnTo>
                <a:lnTo>
                  <a:pt x="1435403" y="1657641"/>
                </a:lnTo>
                <a:lnTo>
                  <a:pt x="1430002" y="1660507"/>
                </a:lnTo>
                <a:lnTo>
                  <a:pt x="1423649" y="1662736"/>
                </a:lnTo>
                <a:lnTo>
                  <a:pt x="1417614" y="1664328"/>
                </a:lnTo>
                <a:lnTo>
                  <a:pt x="1410943" y="1665920"/>
                </a:lnTo>
                <a:lnTo>
                  <a:pt x="1404272" y="1666875"/>
                </a:lnTo>
                <a:lnTo>
                  <a:pt x="1397284" y="1666875"/>
                </a:lnTo>
                <a:lnTo>
                  <a:pt x="879190" y="1666875"/>
                </a:lnTo>
                <a:lnTo>
                  <a:pt x="872202" y="1666875"/>
                </a:lnTo>
                <a:lnTo>
                  <a:pt x="865531" y="1665920"/>
                </a:lnTo>
                <a:lnTo>
                  <a:pt x="858860" y="1664328"/>
                </a:lnTo>
                <a:lnTo>
                  <a:pt x="852507" y="1662736"/>
                </a:lnTo>
                <a:lnTo>
                  <a:pt x="846790" y="1660507"/>
                </a:lnTo>
                <a:lnTo>
                  <a:pt x="841389" y="1657641"/>
                </a:lnTo>
                <a:lnTo>
                  <a:pt x="835989" y="1654139"/>
                </a:lnTo>
                <a:lnTo>
                  <a:pt x="831224" y="1650955"/>
                </a:lnTo>
                <a:lnTo>
                  <a:pt x="826777" y="1646815"/>
                </a:lnTo>
                <a:lnTo>
                  <a:pt x="822648" y="1642358"/>
                </a:lnTo>
                <a:lnTo>
                  <a:pt x="819471" y="1637900"/>
                </a:lnTo>
                <a:lnTo>
                  <a:pt x="816612" y="1633124"/>
                </a:lnTo>
                <a:lnTo>
                  <a:pt x="814389" y="1628029"/>
                </a:lnTo>
                <a:lnTo>
                  <a:pt x="812483" y="1622935"/>
                </a:lnTo>
                <a:lnTo>
                  <a:pt x="811530" y="1617203"/>
                </a:lnTo>
                <a:lnTo>
                  <a:pt x="811212" y="1611472"/>
                </a:lnTo>
                <a:lnTo>
                  <a:pt x="811530" y="1605741"/>
                </a:lnTo>
                <a:lnTo>
                  <a:pt x="812483" y="1600009"/>
                </a:lnTo>
                <a:lnTo>
                  <a:pt x="814389" y="1594915"/>
                </a:lnTo>
                <a:lnTo>
                  <a:pt x="816612" y="1589820"/>
                </a:lnTo>
                <a:lnTo>
                  <a:pt x="819471" y="1584726"/>
                </a:lnTo>
                <a:lnTo>
                  <a:pt x="822648" y="1580268"/>
                </a:lnTo>
                <a:lnTo>
                  <a:pt x="826777" y="1576128"/>
                </a:lnTo>
                <a:lnTo>
                  <a:pt x="831224" y="1571989"/>
                </a:lnTo>
                <a:lnTo>
                  <a:pt x="835989" y="1568168"/>
                </a:lnTo>
                <a:lnTo>
                  <a:pt x="841389" y="1565303"/>
                </a:lnTo>
                <a:lnTo>
                  <a:pt x="846790" y="1562437"/>
                </a:lnTo>
                <a:lnTo>
                  <a:pt x="852507" y="1560208"/>
                </a:lnTo>
                <a:lnTo>
                  <a:pt x="858860" y="1558298"/>
                </a:lnTo>
                <a:lnTo>
                  <a:pt x="865531" y="1557024"/>
                </a:lnTo>
                <a:lnTo>
                  <a:pt x="872202" y="1555750"/>
                </a:lnTo>
                <a:close/>
                <a:moveTo>
                  <a:pt x="984211" y="1325563"/>
                </a:moveTo>
                <a:lnTo>
                  <a:pt x="1292263" y="1325563"/>
                </a:lnTo>
                <a:lnTo>
                  <a:pt x="1297339" y="1325880"/>
                </a:lnTo>
                <a:lnTo>
                  <a:pt x="1302415" y="1326513"/>
                </a:lnTo>
                <a:lnTo>
                  <a:pt x="1307174" y="1327779"/>
                </a:lnTo>
                <a:lnTo>
                  <a:pt x="1311615" y="1329361"/>
                </a:lnTo>
                <a:lnTo>
                  <a:pt x="1315740" y="1331260"/>
                </a:lnTo>
                <a:lnTo>
                  <a:pt x="1319864" y="1333792"/>
                </a:lnTo>
                <a:lnTo>
                  <a:pt x="1323671" y="1336640"/>
                </a:lnTo>
                <a:lnTo>
                  <a:pt x="1327161" y="1340121"/>
                </a:lnTo>
                <a:lnTo>
                  <a:pt x="1330333" y="1343286"/>
                </a:lnTo>
                <a:lnTo>
                  <a:pt x="1332871" y="1347400"/>
                </a:lnTo>
                <a:lnTo>
                  <a:pt x="1335409" y="1351198"/>
                </a:lnTo>
                <a:lnTo>
                  <a:pt x="1337630" y="1355629"/>
                </a:lnTo>
                <a:lnTo>
                  <a:pt x="1339216" y="1360059"/>
                </a:lnTo>
                <a:lnTo>
                  <a:pt x="1340485" y="1364807"/>
                </a:lnTo>
                <a:lnTo>
                  <a:pt x="1341437" y="1369870"/>
                </a:lnTo>
                <a:lnTo>
                  <a:pt x="1341437" y="1374934"/>
                </a:lnTo>
                <a:lnTo>
                  <a:pt x="1341437" y="1379681"/>
                </a:lnTo>
                <a:lnTo>
                  <a:pt x="1340485" y="1384745"/>
                </a:lnTo>
                <a:lnTo>
                  <a:pt x="1339216" y="1389492"/>
                </a:lnTo>
                <a:lnTo>
                  <a:pt x="1337630" y="1393923"/>
                </a:lnTo>
                <a:lnTo>
                  <a:pt x="1335409" y="1398037"/>
                </a:lnTo>
                <a:lnTo>
                  <a:pt x="1332871" y="1402151"/>
                </a:lnTo>
                <a:lnTo>
                  <a:pt x="1330016" y="1405632"/>
                </a:lnTo>
                <a:lnTo>
                  <a:pt x="1327161" y="1409430"/>
                </a:lnTo>
                <a:lnTo>
                  <a:pt x="1323671" y="1412595"/>
                </a:lnTo>
                <a:lnTo>
                  <a:pt x="1319864" y="1415443"/>
                </a:lnTo>
                <a:lnTo>
                  <a:pt x="1315740" y="1417659"/>
                </a:lnTo>
                <a:lnTo>
                  <a:pt x="1311615" y="1419874"/>
                </a:lnTo>
                <a:lnTo>
                  <a:pt x="1306857" y="1421773"/>
                </a:lnTo>
                <a:lnTo>
                  <a:pt x="1302415" y="1422722"/>
                </a:lnTo>
                <a:lnTo>
                  <a:pt x="1297339" y="1423672"/>
                </a:lnTo>
                <a:lnTo>
                  <a:pt x="1292263" y="1423988"/>
                </a:lnTo>
                <a:lnTo>
                  <a:pt x="984211" y="1423988"/>
                </a:lnTo>
                <a:lnTo>
                  <a:pt x="979453" y="1423672"/>
                </a:lnTo>
                <a:lnTo>
                  <a:pt x="974377" y="1422722"/>
                </a:lnTo>
                <a:lnTo>
                  <a:pt x="969618" y="1421773"/>
                </a:lnTo>
                <a:lnTo>
                  <a:pt x="965176" y="1419874"/>
                </a:lnTo>
                <a:lnTo>
                  <a:pt x="960735" y="1417659"/>
                </a:lnTo>
                <a:lnTo>
                  <a:pt x="956928" y="1415443"/>
                </a:lnTo>
                <a:lnTo>
                  <a:pt x="952803" y="1412595"/>
                </a:lnTo>
                <a:lnTo>
                  <a:pt x="949631" y="1409430"/>
                </a:lnTo>
                <a:lnTo>
                  <a:pt x="946141" y="1405632"/>
                </a:lnTo>
                <a:lnTo>
                  <a:pt x="943286" y="1402151"/>
                </a:lnTo>
                <a:lnTo>
                  <a:pt x="941065" y="1398037"/>
                </a:lnTo>
                <a:lnTo>
                  <a:pt x="938844" y="1393923"/>
                </a:lnTo>
                <a:lnTo>
                  <a:pt x="937258" y="1389492"/>
                </a:lnTo>
                <a:lnTo>
                  <a:pt x="935989" y="1384745"/>
                </a:lnTo>
                <a:lnTo>
                  <a:pt x="935355" y="1379681"/>
                </a:lnTo>
                <a:lnTo>
                  <a:pt x="935037" y="1374934"/>
                </a:lnTo>
                <a:lnTo>
                  <a:pt x="935355" y="1369870"/>
                </a:lnTo>
                <a:lnTo>
                  <a:pt x="935989" y="1364807"/>
                </a:lnTo>
                <a:lnTo>
                  <a:pt x="937258" y="1360059"/>
                </a:lnTo>
                <a:lnTo>
                  <a:pt x="938844" y="1355629"/>
                </a:lnTo>
                <a:lnTo>
                  <a:pt x="940748" y="1351198"/>
                </a:lnTo>
                <a:lnTo>
                  <a:pt x="943286" y="1347400"/>
                </a:lnTo>
                <a:lnTo>
                  <a:pt x="946141" y="1343286"/>
                </a:lnTo>
                <a:lnTo>
                  <a:pt x="949631" y="1340121"/>
                </a:lnTo>
                <a:lnTo>
                  <a:pt x="952803" y="1336640"/>
                </a:lnTo>
                <a:lnTo>
                  <a:pt x="956928" y="1333792"/>
                </a:lnTo>
                <a:lnTo>
                  <a:pt x="960735" y="1331260"/>
                </a:lnTo>
                <a:lnTo>
                  <a:pt x="965176" y="1329361"/>
                </a:lnTo>
                <a:lnTo>
                  <a:pt x="969618" y="1327779"/>
                </a:lnTo>
                <a:lnTo>
                  <a:pt x="974377" y="1326513"/>
                </a:lnTo>
                <a:lnTo>
                  <a:pt x="979453" y="1325880"/>
                </a:lnTo>
                <a:lnTo>
                  <a:pt x="984211" y="1325563"/>
                </a:lnTo>
                <a:close/>
                <a:moveTo>
                  <a:pt x="369286" y="1074738"/>
                </a:moveTo>
                <a:lnTo>
                  <a:pt x="887697" y="1074738"/>
                </a:lnTo>
                <a:lnTo>
                  <a:pt x="894368" y="1075056"/>
                </a:lnTo>
                <a:lnTo>
                  <a:pt x="901356" y="1076008"/>
                </a:lnTo>
                <a:lnTo>
                  <a:pt x="908027" y="1077278"/>
                </a:lnTo>
                <a:lnTo>
                  <a:pt x="914063" y="1079183"/>
                </a:lnTo>
                <a:lnTo>
                  <a:pt x="920098" y="1081406"/>
                </a:lnTo>
                <a:lnTo>
                  <a:pt x="925816" y="1084263"/>
                </a:lnTo>
                <a:lnTo>
                  <a:pt x="930898" y="1087438"/>
                </a:lnTo>
                <a:lnTo>
                  <a:pt x="935663" y="1090931"/>
                </a:lnTo>
                <a:lnTo>
                  <a:pt x="940110" y="1094741"/>
                </a:lnTo>
                <a:lnTo>
                  <a:pt x="944240" y="1099186"/>
                </a:lnTo>
                <a:lnTo>
                  <a:pt x="947416" y="1103948"/>
                </a:lnTo>
                <a:lnTo>
                  <a:pt x="950275" y="1108711"/>
                </a:lnTo>
                <a:lnTo>
                  <a:pt x="952499" y="1113791"/>
                </a:lnTo>
                <a:lnTo>
                  <a:pt x="954405" y="1118871"/>
                </a:lnTo>
                <a:lnTo>
                  <a:pt x="955358" y="1124903"/>
                </a:lnTo>
                <a:lnTo>
                  <a:pt x="955675" y="1130301"/>
                </a:lnTo>
                <a:lnTo>
                  <a:pt x="955358" y="1136016"/>
                </a:lnTo>
                <a:lnTo>
                  <a:pt x="954405" y="1141413"/>
                </a:lnTo>
                <a:lnTo>
                  <a:pt x="952499" y="1147128"/>
                </a:lnTo>
                <a:lnTo>
                  <a:pt x="950275" y="1152208"/>
                </a:lnTo>
                <a:lnTo>
                  <a:pt x="947416" y="1156971"/>
                </a:lnTo>
                <a:lnTo>
                  <a:pt x="944240" y="1161098"/>
                </a:lnTo>
                <a:lnTo>
                  <a:pt x="940110" y="1165543"/>
                </a:lnTo>
                <a:lnTo>
                  <a:pt x="935663" y="1169671"/>
                </a:lnTo>
                <a:lnTo>
                  <a:pt x="930898" y="1173163"/>
                </a:lnTo>
                <a:lnTo>
                  <a:pt x="925816" y="1176656"/>
                </a:lnTo>
                <a:lnTo>
                  <a:pt x="920098" y="1179196"/>
                </a:lnTo>
                <a:lnTo>
                  <a:pt x="914063" y="1181736"/>
                </a:lnTo>
                <a:lnTo>
                  <a:pt x="908027" y="1183323"/>
                </a:lnTo>
                <a:lnTo>
                  <a:pt x="901356" y="1184593"/>
                </a:lnTo>
                <a:lnTo>
                  <a:pt x="894368" y="1185546"/>
                </a:lnTo>
                <a:lnTo>
                  <a:pt x="887697" y="1185863"/>
                </a:lnTo>
                <a:lnTo>
                  <a:pt x="369286" y="1185863"/>
                </a:lnTo>
                <a:lnTo>
                  <a:pt x="362615" y="1185546"/>
                </a:lnTo>
                <a:lnTo>
                  <a:pt x="355944" y="1184593"/>
                </a:lnTo>
                <a:lnTo>
                  <a:pt x="349273" y="1183323"/>
                </a:lnTo>
                <a:lnTo>
                  <a:pt x="343238" y="1181736"/>
                </a:lnTo>
                <a:lnTo>
                  <a:pt x="337203" y="1179196"/>
                </a:lnTo>
                <a:lnTo>
                  <a:pt x="331485" y="1176656"/>
                </a:lnTo>
                <a:lnTo>
                  <a:pt x="326402" y="1173163"/>
                </a:lnTo>
                <a:lnTo>
                  <a:pt x="321637" y="1169671"/>
                </a:lnTo>
                <a:lnTo>
                  <a:pt x="317190" y="1165543"/>
                </a:lnTo>
                <a:lnTo>
                  <a:pt x="313378" y="1161098"/>
                </a:lnTo>
                <a:lnTo>
                  <a:pt x="309884" y="1156971"/>
                </a:lnTo>
                <a:lnTo>
                  <a:pt x="307025" y="1152208"/>
                </a:lnTo>
                <a:lnTo>
                  <a:pt x="304802" y="1147128"/>
                </a:lnTo>
                <a:lnTo>
                  <a:pt x="302896" y="1141413"/>
                </a:lnTo>
                <a:lnTo>
                  <a:pt x="301943" y="1136016"/>
                </a:lnTo>
                <a:lnTo>
                  <a:pt x="301625" y="1130301"/>
                </a:lnTo>
                <a:lnTo>
                  <a:pt x="301943" y="1124903"/>
                </a:lnTo>
                <a:lnTo>
                  <a:pt x="302896" y="1119188"/>
                </a:lnTo>
                <a:lnTo>
                  <a:pt x="304802" y="1113791"/>
                </a:lnTo>
                <a:lnTo>
                  <a:pt x="307025" y="1108711"/>
                </a:lnTo>
                <a:lnTo>
                  <a:pt x="309884" y="1103948"/>
                </a:lnTo>
                <a:lnTo>
                  <a:pt x="313378" y="1099186"/>
                </a:lnTo>
                <a:lnTo>
                  <a:pt x="317190" y="1094741"/>
                </a:lnTo>
                <a:lnTo>
                  <a:pt x="321637" y="1091248"/>
                </a:lnTo>
                <a:lnTo>
                  <a:pt x="326402" y="1087438"/>
                </a:lnTo>
                <a:lnTo>
                  <a:pt x="331485" y="1084263"/>
                </a:lnTo>
                <a:lnTo>
                  <a:pt x="337203" y="1081406"/>
                </a:lnTo>
                <a:lnTo>
                  <a:pt x="343238" y="1079183"/>
                </a:lnTo>
                <a:lnTo>
                  <a:pt x="349273" y="1077278"/>
                </a:lnTo>
                <a:lnTo>
                  <a:pt x="355944" y="1076008"/>
                </a:lnTo>
                <a:lnTo>
                  <a:pt x="362615" y="1075056"/>
                </a:lnTo>
                <a:lnTo>
                  <a:pt x="369286" y="1074738"/>
                </a:lnTo>
                <a:close/>
                <a:moveTo>
                  <a:pt x="1261435" y="965200"/>
                </a:moveTo>
                <a:lnTo>
                  <a:pt x="1264624" y="965200"/>
                </a:lnTo>
                <a:lnTo>
                  <a:pt x="1267814" y="965200"/>
                </a:lnTo>
                <a:lnTo>
                  <a:pt x="1271322" y="965838"/>
                </a:lnTo>
                <a:lnTo>
                  <a:pt x="1275149" y="967114"/>
                </a:lnTo>
                <a:lnTo>
                  <a:pt x="1278977" y="968390"/>
                </a:lnTo>
                <a:lnTo>
                  <a:pt x="1282804" y="969984"/>
                </a:lnTo>
                <a:lnTo>
                  <a:pt x="1290777" y="973811"/>
                </a:lnTo>
                <a:lnTo>
                  <a:pt x="1298113" y="978277"/>
                </a:lnTo>
                <a:lnTo>
                  <a:pt x="1304491" y="982742"/>
                </a:lnTo>
                <a:lnTo>
                  <a:pt x="1308637" y="986250"/>
                </a:lnTo>
                <a:lnTo>
                  <a:pt x="1312784" y="990715"/>
                </a:lnTo>
                <a:lnTo>
                  <a:pt x="1317249" y="997094"/>
                </a:lnTo>
                <a:lnTo>
                  <a:pt x="1321395" y="1004429"/>
                </a:lnTo>
                <a:lnTo>
                  <a:pt x="1325222" y="1012403"/>
                </a:lnTo>
                <a:lnTo>
                  <a:pt x="1326817" y="1016549"/>
                </a:lnTo>
                <a:lnTo>
                  <a:pt x="1328092" y="1020057"/>
                </a:lnTo>
                <a:lnTo>
                  <a:pt x="1329368" y="1024203"/>
                </a:lnTo>
                <a:lnTo>
                  <a:pt x="1330006" y="1027711"/>
                </a:lnTo>
                <a:lnTo>
                  <a:pt x="1330325" y="1030901"/>
                </a:lnTo>
                <a:lnTo>
                  <a:pt x="1330006" y="1034090"/>
                </a:lnTo>
                <a:lnTo>
                  <a:pt x="1329368" y="1036004"/>
                </a:lnTo>
                <a:lnTo>
                  <a:pt x="1327774" y="1038236"/>
                </a:lnTo>
                <a:lnTo>
                  <a:pt x="1228904" y="1099472"/>
                </a:lnTo>
                <a:lnTo>
                  <a:pt x="1226990" y="1101066"/>
                </a:lnTo>
                <a:lnTo>
                  <a:pt x="1225396" y="1102342"/>
                </a:lnTo>
                <a:lnTo>
                  <a:pt x="1223163" y="1103618"/>
                </a:lnTo>
                <a:lnTo>
                  <a:pt x="1220930" y="1104575"/>
                </a:lnTo>
                <a:lnTo>
                  <a:pt x="1219017" y="1105213"/>
                </a:lnTo>
                <a:lnTo>
                  <a:pt x="1216784" y="1105850"/>
                </a:lnTo>
                <a:lnTo>
                  <a:pt x="1212000" y="1106488"/>
                </a:lnTo>
                <a:lnTo>
                  <a:pt x="1207854" y="1105850"/>
                </a:lnTo>
                <a:lnTo>
                  <a:pt x="1205622" y="1105213"/>
                </a:lnTo>
                <a:lnTo>
                  <a:pt x="1203389" y="1104575"/>
                </a:lnTo>
                <a:lnTo>
                  <a:pt x="1201475" y="1103618"/>
                </a:lnTo>
                <a:lnTo>
                  <a:pt x="1199243" y="1102342"/>
                </a:lnTo>
                <a:lnTo>
                  <a:pt x="1197329" y="1101066"/>
                </a:lnTo>
                <a:lnTo>
                  <a:pt x="1195735" y="1099472"/>
                </a:lnTo>
                <a:lnTo>
                  <a:pt x="1194140" y="1097558"/>
                </a:lnTo>
                <a:lnTo>
                  <a:pt x="1192864" y="1095963"/>
                </a:lnTo>
                <a:lnTo>
                  <a:pt x="1191588" y="1093731"/>
                </a:lnTo>
                <a:lnTo>
                  <a:pt x="1190632" y="1091817"/>
                </a:lnTo>
                <a:lnTo>
                  <a:pt x="1189356" y="1087352"/>
                </a:lnTo>
                <a:lnTo>
                  <a:pt x="1189037" y="1082887"/>
                </a:lnTo>
                <a:lnTo>
                  <a:pt x="1189356" y="1078741"/>
                </a:lnTo>
                <a:lnTo>
                  <a:pt x="1190632" y="1074276"/>
                </a:lnTo>
                <a:lnTo>
                  <a:pt x="1191588" y="1072043"/>
                </a:lnTo>
                <a:lnTo>
                  <a:pt x="1192864" y="1070130"/>
                </a:lnTo>
                <a:lnTo>
                  <a:pt x="1194140" y="1068535"/>
                </a:lnTo>
                <a:lnTo>
                  <a:pt x="1195735" y="1066621"/>
                </a:lnTo>
                <a:lnTo>
                  <a:pt x="1257289" y="967433"/>
                </a:lnTo>
                <a:lnTo>
                  <a:pt x="1258884" y="965838"/>
                </a:lnTo>
                <a:lnTo>
                  <a:pt x="1261435" y="965200"/>
                </a:lnTo>
                <a:close/>
                <a:moveTo>
                  <a:pt x="346041" y="844550"/>
                </a:moveTo>
                <a:lnTo>
                  <a:pt x="350799" y="844550"/>
                </a:lnTo>
                <a:lnTo>
                  <a:pt x="658851" y="844550"/>
                </a:lnTo>
                <a:lnTo>
                  <a:pt x="663927" y="844550"/>
                </a:lnTo>
                <a:lnTo>
                  <a:pt x="669003" y="845185"/>
                </a:lnTo>
                <a:lnTo>
                  <a:pt x="673762" y="846773"/>
                </a:lnTo>
                <a:lnTo>
                  <a:pt x="678204" y="848043"/>
                </a:lnTo>
                <a:lnTo>
                  <a:pt x="682645" y="850265"/>
                </a:lnTo>
                <a:lnTo>
                  <a:pt x="686452" y="852805"/>
                </a:lnTo>
                <a:lnTo>
                  <a:pt x="690259" y="855345"/>
                </a:lnTo>
                <a:lnTo>
                  <a:pt x="693749" y="858838"/>
                </a:lnTo>
                <a:lnTo>
                  <a:pt x="697239" y="862330"/>
                </a:lnTo>
                <a:lnTo>
                  <a:pt x="699777" y="865823"/>
                </a:lnTo>
                <a:lnTo>
                  <a:pt x="702315" y="869950"/>
                </a:lnTo>
                <a:lnTo>
                  <a:pt x="704218" y="874395"/>
                </a:lnTo>
                <a:lnTo>
                  <a:pt x="705804" y="879158"/>
                </a:lnTo>
                <a:lnTo>
                  <a:pt x="707391" y="883920"/>
                </a:lnTo>
                <a:lnTo>
                  <a:pt x="708025" y="888683"/>
                </a:lnTo>
                <a:lnTo>
                  <a:pt x="708025" y="893763"/>
                </a:lnTo>
                <a:lnTo>
                  <a:pt x="708025" y="898843"/>
                </a:lnTo>
                <a:lnTo>
                  <a:pt x="707391" y="903605"/>
                </a:lnTo>
                <a:lnTo>
                  <a:pt x="705804" y="908368"/>
                </a:lnTo>
                <a:lnTo>
                  <a:pt x="704218" y="912495"/>
                </a:lnTo>
                <a:lnTo>
                  <a:pt x="702315" y="916940"/>
                </a:lnTo>
                <a:lnTo>
                  <a:pt x="699777" y="921068"/>
                </a:lnTo>
                <a:lnTo>
                  <a:pt x="697239" y="924878"/>
                </a:lnTo>
                <a:lnTo>
                  <a:pt x="693749" y="928370"/>
                </a:lnTo>
                <a:lnTo>
                  <a:pt x="690259" y="931545"/>
                </a:lnTo>
                <a:lnTo>
                  <a:pt x="686452" y="934403"/>
                </a:lnTo>
                <a:lnTo>
                  <a:pt x="682645" y="936943"/>
                </a:lnTo>
                <a:lnTo>
                  <a:pt x="678204" y="938848"/>
                </a:lnTo>
                <a:lnTo>
                  <a:pt x="673762" y="940753"/>
                </a:lnTo>
                <a:lnTo>
                  <a:pt x="669003" y="941705"/>
                </a:lnTo>
                <a:lnTo>
                  <a:pt x="663927" y="942658"/>
                </a:lnTo>
                <a:lnTo>
                  <a:pt x="658851" y="942975"/>
                </a:lnTo>
                <a:lnTo>
                  <a:pt x="350799" y="942975"/>
                </a:lnTo>
                <a:lnTo>
                  <a:pt x="346041" y="942658"/>
                </a:lnTo>
                <a:lnTo>
                  <a:pt x="340965" y="941705"/>
                </a:lnTo>
                <a:lnTo>
                  <a:pt x="336206" y="940753"/>
                </a:lnTo>
                <a:lnTo>
                  <a:pt x="331764" y="938848"/>
                </a:lnTo>
                <a:lnTo>
                  <a:pt x="327323" y="936943"/>
                </a:lnTo>
                <a:lnTo>
                  <a:pt x="323516" y="934403"/>
                </a:lnTo>
                <a:lnTo>
                  <a:pt x="319391" y="931545"/>
                </a:lnTo>
                <a:lnTo>
                  <a:pt x="316219" y="928370"/>
                </a:lnTo>
                <a:lnTo>
                  <a:pt x="312729" y="924878"/>
                </a:lnTo>
                <a:lnTo>
                  <a:pt x="309874" y="921068"/>
                </a:lnTo>
                <a:lnTo>
                  <a:pt x="307653" y="916940"/>
                </a:lnTo>
                <a:lnTo>
                  <a:pt x="305432" y="912495"/>
                </a:lnTo>
                <a:lnTo>
                  <a:pt x="303846" y="908368"/>
                </a:lnTo>
                <a:lnTo>
                  <a:pt x="302577" y="903605"/>
                </a:lnTo>
                <a:lnTo>
                  <a:pt x="301943" y="898843"/>
                </a:lnTo>
                <a:lnTo>
                  <a:pt x="301625" y="893763"/>
                </a:lnTo>
                <a:lnTo>
                  <a:pt x="301943" y="888683"/>
                </a:lnTo>
                <a:lnTo>
                  <a:pt x="302577" y="883920"/>
                </a:lnTo>
                <a:lnTo>
                  <a:pt x="303846" y="879158"/>
                </a:lnTo>
                <a:lnTo>
                  <a:pt x="305432" y="874395"/>
                </a:lnTo>
                <a:lnTo>
                  <a:pt x="307336" y="869950"/>
                </a:lnTo>
                <a:lnTo>
                  <a:pt x="309874" y="865823"/>
                </a:lnTo>
                <a:lnTo>
                  <a:pt x="312729" y="862330"/>
                </a:lnTo>
                <a:lnTo>
                  <a:pt x="316219" y="858838"/>
                </a:lnTo>
                <a:lnTo>
                  <a:pt x="319391" y="855345"/>
                </a:lnTo>
                <a:lnTo>
                  <a:pt x="323516" y="852805"/>
                </a:lnTo>
                <a:lnTo>
                  <a:pt x="327323" y="850265"/>
                </a:lnTo>
                <a:lnTo>
                  <a:pt x="331764" y="848043"/>
                </a:lnTo>
                <a:lnTo>
                  <a:pt x="336206" y="846773"/>
                </a:lnTo>
                <a:lnTo>
                  <a:pt x="340965" y="845185"/>
                </a:lnTo>
                <a:lnTo>
                  <a:pt x="346041" y="844550"/>
                </a:lnTo>
                <a:close/>
                <a:moveTo>
                  <a:pt x="344144" y="590550"/>
                </a:moveTo>
                <a:lnTo>
                  <a:pt x="960782" y="590550"/>
                </a:lnTo>
                <a:lnTo>
                  <a:pt x="966812" y="591185"/>
                </a:lnTo>
                <a:lnTo>
                  <a:pt x="973159" y="592138"/>
                </a:lnTo>
                <a:lnTo>
                  <a:pt x="978871" y="593725"/>
                </a:lnTo>
                <a:lnTo>
                  <a:pt x="984584" y="595630"/>
                </a:lnTo>
                <a:lnTo>
                  <a:pt x="990296" y="598488"/>
                </a:lnTo>
                <a:lnTo>
                  <a:pt x="995374" y="601345"/>
                </a:lnTo>
                <a:lnTo>
                  <a:pt x="1000135" y="604838"/>
                </a:lnTo>
                <a:lnTo>
                  <a:pt x="1004260" y="608965"/>
                </a:lnTo>
                <a:lnTo>
                  <a:pt x="1008386" y="613410"/>
                </a:lnTo>
                <a:lnTo>
                  <a:pt x="1011560" y="617855"/>
                </a:lnTo>
                <a:lnTo>
                  <a:pt x="1015051" y="623253"/>
                </a:lnTo>
                <a:lnTo>
                  <a:pt x="1017590" y="628650"/>
                </a:lnTo>
                <a:lnTo>
                  <a:pt x="1019811" y="634048"/>
                </a:lnTo>
                <a:lnTo>
                  <a:pt x="1021081" y="639763"/>
                </a:lnTo>
                <a:lnTo>
                  <a:pt x="1021715" y="646113"/>
                </a:lnTo>
                <a:lnTo>
                  <a:pt x="1022350" y="652145"/>
                </a:lnTo>
                <a:lnTo>
                  <a:pt x="1021715" y="658813"/>
                </a:lnTo>
                <a:lnTo>
                  <a:pt x="1021081" y="664528"/>
                </a:lnTo>
                <a:lnTo>
                  <a:pt x="1019811" y="670878"/>
                </a:lnTo>
                <a:lnTo>
                  <a:pt x="1017590" y="676275"/>
                </a:lnTo>
                <a:lnTo>
                  <a:pt x="1015051" y="681673"/>
                </a:lnTo>
                <a:lnTo>
                  <a:pt x="1011560" y="686753"/>
                </a:lnTo>
                <a:lnTo>
                  <a:pt x="1008386" y="691515"/>
                </a:lnTo>
                <a:lnTo>
                  <a:pt x="1004260" y="695960"/>
                </a:lnTo>
                <a:lnTo>
                  <a:pt x="1000135" y="700088"/>
                </a:lnTo>
                <a:lnTo>
                  <a:pt x="995374" y="703580"/>
                </a:lnTo>
                <a:lnTo>
                  <a:pt x="990296" y="706438"/>
                </a:lnTo>
                <a:lnTo>
                  <a:pt x="984584" y="708978"/>
                </a:lnTo>
                <a:lnTo>
                  <a:pt x="978871" y="711200"/>
                </a:lnTo>
                <a:lnTo>
                  <a:pt x="973159" y="712788"/>
                </a:lnTo>
                <a:lnTo>
                  <a:pt x="966812" y="713740"/>
                </a:lnTo>
                <a:lnTo>
                  <a:pt x="960782" y="714375"/>
                </a:lnTo>
                <a:lnTo>
                  <a:pt x="344144" y="714375"/>
                </a:lnTo>
                <a:lnTo>
                  <a:pt x="338114" y="713740"/>
                </a:lnTo>
                <a:lnTo>
                  <a:pt x="331767" y="712788"/>
                </a:lnTo>
                <a:lnTo>
                  <a:pt x="326054" y="711200"/>
                </a:lnTo>
                <a:lnTo>
                  <a:pt x="320342" y="708978"/>
                </a:lnTo>
                <a:lnTo>
                  <a:pt x="314946" y="706438"/>
                </a:lnTo>
                <a:lnTo>
                  <a:pt x="309869" y="703580"/>
                </a:lnTo>
                <a:lnTo>
                  <a:pt x="305108" y="700088"/>
                </a:lnTo>
                <a:lnTo>
                  <a:pt x="300982" y="695960"/>
                </a:lnTo>
                <a:lnTo>
                  <a:pt x="296857" y="691515"/>
                </a:lnTo>
                <a:lnTo>
                  <a:pt x="293366" y="686753"/>
                </a:lnTo>
                <a:lnTo>
                  <a:pt x="290192" y="681673"/>
                </a:lnTo>
                <a:lnTo>
                  <a:pt x="287653" y="676275"/>
                </a:lnTo>
                <a:lnTo>
                  <a:pt x="285432" y="670878"/>
                </a:lnTo>
                <a:lnTo>
                  <a:pt x="284162" y="664528"/>
                </a:lnTo>
                <a:lnTo>
                  <a:pt x="282893" y="658813"/>
                </a:lnTo>
                <a:lnTo>
                  <a:pt x="282575" y="652145"/>
                </a:lnTo>
                <a:lnTo>
                  <a:pt x="282893" y="646113"/>
                </a:lnTo>
                <a:lnTo>
                  <a:pt x="284162" y="639763"/>
                </a:lnTo>
                <a:lnTo>
                  <a:pt x="285432" y="634048"/>
                </a:lnTo>
                <a:lnTo>
                  <a:pt x="287653" y="628650"/>
                </a:lnTo>
                <a:lnTo>
                  <a:pt x="290192" y="623253"/>
                </a:lnTo>
                <a:lnTo>
                  <a:pt x="293366" y="617855"/>
                </a:lnTo>
                <a:lnTo>
                  <a:pt x="296857" y="613410"/>
                </a:lnTo>
                <a:lnTo>
                  <a:pt x="300982" y="608965"/>
                </a:lnTo>
                <a:lnTo>
                  <a:pt x="305108" y="604838"/>
                </a:lnTo>
                <a:lnTo>
                  <a:pt x="309869" y="601345"/>
                </a:lnTo>
                <a:lnTo>
                  <a:pt x="314946" y="598488"/>
                </a:lnTo>
                <a:lnTo>
                  <a:pt x="320342" y="595630"/>
                </a:lnTo>
                <a:lnTo>
                  <a:pt x="326054" y="593725"/>
                </a:lnTo>
                <a:lnTo>
                  <a:pt x="331767" y="592138"/>
                </a:lnTo>
                <a:lnTo>
                  <a:pt x="338114" y="591185"/>
                </a:lnTo>
                <a:lnTo>
                  <a:pt x="344144" y="590550"/>
                </a:lnTo>
                <a:close/>
                <a:moveTo>
                  <a:pt x="1750865" y="411163"/>
                </a:moveTo>
                <a:lnTo>
                  <a:pt x="1754043" y="411481"/>
                </a:lnTo>
                <a:lnTo>
                  <a:pt x="1757540" y="411798"/>
                </a:lnTo>
                <a:lnTo>
                  <a:pt x="1760718" y="413068"/>
                </a:lnTo>
                <a:lnTo>
                  <a:pt x="1764214" y="414021"/>
                </a:lnTo>
                <a:lnTo>
                  <a:pt x="1767710" y="414973"/>
                </a:lnTo>
                <a:lnTo>
                  <a:pt x="1770889" y="416878"/>
                </a:lnTo>
                <a:lnTo>
                  <a:pt x="1777563" y="421006"/>
                </a:lnTo>
                <a:lnTo>
                  <a:pt x="1784555" y="425768"/>
                </a:lnTo>
                <a:lnTo>
                  <a:pt x="1790912" y="431166"/>
                </a:lnTo>
                <a:lnTo>
                  <a:pt x="1797904" y="437198"/>
                </a:lnTo>
                <a:lnTo>
                  <a:pt x="1812207" y="451486"/>
                </a:lnTo>
                <a:lnTo>
                  <a:pt x="1827145" y="466408"/>
                </a:lnTo>
                <a:lnTo>
                  <a:pt x="1836680" y="476251"/>
                </a:lnTo>
                <a:lnTo>
                  <a:pt x="1851935" y="491173"/>
                </a:lnTo>
                <a:lnTo>
                  <a:pt x="1865920" y="505461"/>
                </a:lnTo>
                <a:lnTo>
                  <a:pt x="1872277" y="512446"/>
                </a:lnTo>
                <a:lnTo>
                  <a:pt x="1877680" y="519431"/>
                </a:lnTo>
                <a:lnTo>
                  <a:pt x="1882447" y="525781"/>
                </a:lnTo>
                <a:lnTo>
                  <a:pt x="1886579" y="532766"/>
                </a:lnTo>
                <a:lnTo>
                  <a:pt x="1888486" y="536258"/>
                </a:lnTo>
                <a:lnTo>
                  <a:pt x="1889439" y="539433"/>
                </a:lnTo>
                <a:lnTo>
                  <a:pt x="1891029" y="542608"/>
                </a:lnTo>
                <a:lnTo>
                  <a:pt x="1891664" y="546101"/>
                </a:lnTo>
                <a:lnTo>
                  <a:pt x="1891982" y="549593"/>
                </a:lnTo>
                <a:lnTo>
                  <a:pt x="1892300" y="552768"/>
                </a:lnTo>
                <a:lnTo>
                  <a:pt x="1892300" y="556261"/>
                </a:lnTo>
                <a:lnTo>
                  <a:pt x="1891664" y="559753"/>
                </a:lnTo>
                <a:lnTo>
                  <a:pt x="1891029" y="562928"/>
                </a:lnTo>
                <a:lnTo>
                  <a:pt x="1889757" y="566738"/>
                </a:lnTo>
                <a:lnTo>
                  <a:pt x="1888486" y="570231"/>
                </a:lnTo>
                <a:lnTo>
                  <a:pt x="1886261" y="574041"/>
                </a:lnTo>
                <a:lnTo>
                  <a:pt x="1884036" y="577533"/>
                </a:lnTo>
                <a:lnTo>
                  <a:pt x="1881176" y="581343"/>
                </a:lnTo>
                <a:lnTo>
                  <a:pt x="1877680" y="585153"/>
                </a:lnTo>
                <a:lnTo>
                  <a:pt x="1874184" y="588963"/>
                </a:lnTo>
                <a:lnTo>
                  <a:pt x="1476895" y="985838"/>
                </a:lnTo>
                <a:lnTo>
                  <a:pt x="1472763" y="989966"/>
                </a:lnTo>
                <a:lnTo>
                  <a:pt x="1468313" y="993458"/>
                </a:lnTo>
                <a:lnTo>
                  <a:pt x="1464182" y="996633"/>
                </a:lnTo>
                <a:lnTo>
                  <a:pt x="1459732" y="999808"/>
                </a:lnTo>
                <a:lnTo>
                  <a:pt x="1455282" y="1002348"/>
                </a:lnTo>
                <a:lnTo>
                  <a:pt x="1450515" y="1004888"/>
                </a:lnTo>
                <a:lnTo>
                  <a:pt x="1446065" y="1007111"/>
                </a:lnTo>
                <a:lnTo>
                  <a:pt x="1440980" y="1009016"/>
                </a:lnTo>
                <a:lnTo>
                  <a:pt x="1436212" y="1010921"/>
                </a:lnTo>
                <a:lnTo>
                  <a:pt x="1431445" y="1012826"/>
                </a:lnTo>
                <a:lnTo>
                  <a:pt x="1426360" y="1013778"/>
                </a:lnTo>
                <a:lnTo>
                  <a:pt x="1421274" y="1015366"/>
                </a:lnTo>
                <a:lnTo>
                  <a:pt x="1416507" y="1016001"/>
                </a:lnTo>
                <a:lnTo>
                  <a:pt x="1411422" y="1016953"/>
                </a:lnTo>
                <a:lnTo>
                  <a:pt x="1406336" y="1017271"/>
                </a:lnTo>
                <a:lnTo>
                  <a:pt x="1401569" y="1017588"/>
                </a:lnTo>
                <a:lnTo>
                  <a:pt x="1396484" y="1017588"/>
                </a:lnTo>
                <a:lnTo>
                  <a:pt x="1391716" y="1017271"/>
                </a:lnTo>
                <a:lnTo>
                  <a:pt x="1386949" y="1016953"/>
                </a:lnTo>
                <a:lnTo>
                  <a:pt x="1382499" y="1015683"/>
                </a:lnTo>
                <a:lnTo>
                  <a:pt x="1377731" y="1015048"/>
                </a:lnTo>
                <a:lnTo>
                  <a:pt x="1373282" y="1013461"/>
                </a:lnTo>
                <a:lnTo>
                  <a:pt x="1368832" y="1012191"/>
                </a:lnTo>
                <a:lnTo>
                  <a:pt x="1364700" y="1010286"/>
                </a:lnTo>
                <a:lnTo>
                  <a:pt x="1360886" y="1008063"/>
                </a:lnTo>
                <a:lnTo>
                  <a:pt x="1357072" y="1005523"/>
                </a:lnTo>
                <a:lnTo>
                  <a:pt x="1353576" y="1002983"/>
                </a:lnTo>
                <a:lnTo>
                  <a:pt x="1350080" y="1000126"/>
                </a:lnTo>
                <a:lnTo>
                  <a:pt x="1347220" y="996633"/>
                </a:lnTo>
                <a:lnTo>
                  <a:pt x="1344359" y="993458"/>
                </a:lnTo>
                <a:lnTo>
                  <a:pt x="1341817" y="989331"/>
                </a:lnTo>
                <a:lnTo>
                  <a:pt x="1339274" y="985521"/>
                </a:lnTo>
                <a:lnTo>
                  <a:pt x="1337367" y="981076"/>
                </a:lnTo>
                <a:lnTo>
                  <a:pt x="1335778" y="976313"/>
                </a:lnTo>
                <a:lnTo>
                  <a:pt x="1326561" y="967106"/>
                </a:lnTo>
                <a:lnTo>
                  <a:pt x="1322111" y="965518"/>
                </a:lnTo>
                <a:lnTo>
                  <a:pt x="1317979" y="963296"/>
                </a:lnTo>
                <a:lnTo>
                  <a:pt x="1314165" y="961073"/>
                </a:lnTo>
                <a:lnTo>
                  <a:pt x="1310351" y="958851"/>
                </a:lnTo>
                <a:lnTo>
                  <a:pt x="1307173" y="956311"/>
                </a:lnTo>
                <a:lnTo>
                  <a:pt x="1303995" y="953453"/>
                </a:lnTo>
                <a:lnTo>
                  <a:pt x="1301134" y="950913"/>
                </a:lnTo>
                <a:lnTo>
                  <a:pt x="1298274" y="948056"/>
                </a:lnTo>
                <a:lnTo>
                  <a:pt x="1295731" y="944563"/>
                </a:lnTo>
                <a:lnTo>
                  <a:pt x="1293824" y="941706"/>
                </a:lnTo>
                <a:lnTo>
                  <a:pt x="1291599" y="938531"/>
                </a:lnTo>
                <a:lnTo>
                  <a:pt x="1289692" y="935038"/>
                </a:lnTo>
                <a:lnTo>
                  <a:pt x="1288103" y="931546"/>
                </a:lnTo>
                <a:lnTo>
                  <a:pt x="1286832" y="928371"/>
                </a:lnTo>
                <a:lnTo>
                  <a:pt x="1284607" y="921068"/>
                </a:lnTo>
                <a:lnTo>
                  <a:pt x="1283336" y="913448"/>
                </a:lnTo>
                <a:lnTo>
                  <a:pt x="1282700" y="905511"/>
                </a:lnTo>
                <a:lnTo>
                  <a:pt x="1283018" y="897573"/>
                </a:lnTo>
                <a:lnTo>
                  <a:pt x="1283971" y="889953"/>
                </a:lnTo>
                <a:lnTo>
                  <a:pt x="1285560" y="882016"/>
                </a:lnTo>
                <a:lnTo>
                  <a:pt x="1287785" y="874078"/>
                </a:lnTo>
                <a:lnTo>
                  <a:pt x="1290646" y="866141"/>
                </a:lnTo>
                <a:lnTo>
                  <a:pt x="1294142" y="858521"/>
                </a:lnTo>
                <a:lnTo>
                  <a:pt x="1298909" y="849948"/>
                </a:lnTo>
                <a:lnTo>
                  <a:pt x="1304313" y="841376"/>
                </a:lnTo>
                <a:lnTo>
                  <a:pt x="1310351" y="833756"/>
                </a:lnTo>
                <a:lnTo>
                  <a:pt x="1317026" y="826136"/>
                </a:lnTo>
                <a:lnTo>
                  <a:pt x="1714315" y="429261"/>
                </a:lnTo>
                <a:lnTo>
                  <a:pt x="1718446" y="425768"/>
                </a:lnTo>
                <a:lnTo>
                  <a:pt x="1721943" y="422276"/>
                </a:lnTo>
                <a:lnTo>
                  <a:pt x="1726074" y="419736"/>
                </a:lnTo>
                <a:lnTo>
                  <a:pt x="1729571" y="417196"/>
                </a:lnTo>
                <a:lnTo>
                  <a:pt x="1733384" y="415608"/>
                </a:lnTo>
                <a:lnTo>
                  <a:pt x="1736881" y="414021"/>
                </a:lnTo>
                <a:lnTo>
                  <a:pt x="1740377" y="412433"/>
                </a:lnTo>
                <a:lnTo>
                  <a:pt x="1743873" y="411798"/>
                </a:lnTo>
                <a:lnTo>
                  <a:pt x="1747051" y="411481"/>
                </a:lnTo>
                <a:lnTo>
                  <a:pt x="1750865" y="411163"/>
                </a:lnTo>
                <a:close/>
                <a:moveTo>
                  <a:pt x="198373" y="319088"/>
                </a:moveTo>
                <a:lnTo>
                  <a:pt x="1557783" y="319088"/>
                </a:lnTo>
                <a:lnTo>
                  <a:pt x="1453042" y="423822"/>
                </a:lnTo>
                <a:lnTo>
                  <a:pt x="315492" y="423822"/>
                </a:lnTo>
                <a:lnTo>
                  <a:pt x="305336" y="424140"/>
                </a:lnTo>
                <a:lnTo>
                  <a:pt x="295179" y="424774"/>
                </a:lnTo>
                <a:lnTo>
                  <a:pt x="285340" y="426361"/>
                </a:lnTo>
                <a:lnTo>
                  <a:pt x="275500" y="427631"/>
                </a:lnTo>
                <a:lnTo>
                  <a:pt x="265979" y="429852"/>
                </a:lnTo>
                <a:lnTo>
                  <a:pt x="256457" y="433026"/>
                </a:lnTo>
                <a:lnTo>
                  <a:pt x="247570" y="435882"/>
                </a:lnTo>
                <a:lnTo>
                  <a:pt x="238365" y="439374"/>
                </a:lnTo>
                <a:lnTo>
                  <a:pt x="229478" y="443499"/>
                </a:lnTo>
                <a:lnTo>
                  <a:pt x="221226" y="447943"/>
                </a:lnTo>
                <a:lnTo>
                  <a:pt x="212973" y="452703"/>
                </a:lnTo>
                <a:lnTo>
                  <a:pt x="204721" y="457781"/>
                </a:lnTo>
                <a:lnTo>
                  <a:pt x="196786" y="463494"/>
                </a:lnTo>
                <a:lnTo>
                  <a:pt x="189486" y="469207"/>
                </a:lnTo>
                <a:lnTo>
                  <a:pt x="182186" y="475554"/>
                </a:lnTo>
                <a:lnTo>
                  <a:pt x="175203" y="481902"/>
                </a:lnTo>
                <a:lnTo>
                  <a:pt x="168855" y="488884"/>
                </a:lnTo>
                <a:lnTo>
                  <a:pt x="162507" y="496184"/>
                </a:lnTo>
                <a:lnTo>
                  <a:pt x="156794" y="503483"/>
                </a:lnTo>
                <a:lnTo>
                  <a:pt x="151398" y="511100"/>
                </a:lnTo>
                <a:lnTo>
                  <a:pt x="145685" y="519670"/>
                </a:lnTo>
                <a:lnTo>
                  <a:pt x="140924" y="527604"/>
                </a:lnTo>
                <a:lnTo>
                  <a:pt x="136798" y="536490"/>
                </a:lnTo>
                <a:lnTo>
                  <a:pt x="132672" y="545060"/>
                </a:lnTo>
                <a:lnTo>
                  <a:pt x="129498" y="554263"/>
                </a:lnTo>
                <a:lnTo>
                  <a:pt x="126007" y="563150"/>
                </a:lnTo>
                <a:lnTo>
                  <a:pt x="123468" y="572671"/>
                </a:lnTo>
                <a:lnTo>
                  <a:pt x="121246" y="582193"/>
                </a:lnTo>
                <a:lnTo>
                  <a:pt x="119659" y="592031"/>
                </a:lnTo>
                <a:lnTo>
                  <a:pt x="118072" y="601870"/>
                </a:lnTo>
                <a:lnTo>
                  <a:pt x="117437" y="612026"/>
                </a:lnTo>
                <a:lnTo>
                  <a:pt x="117437" y="622182"/>
                </a:lnTo>
                <a:lnTo>
                  <a:pt x="117437" y="1633658"/>
                </a:lnTo>
                <a:lnTo>
                  <a:pt x="117437" y="1643814"/>
                </a:lnTo>
                <a:lnTo>
                  <a:pt x="118072" y="1653970"/>
                </a:lnTo>
                <a:lnTo>
                  <a:pt x="119659" y="1663808"/>
                </a:lnTo>
                <a:lnTo>
                  <a:pt x="121246" y="1673647"/>
                </a:lnTo>
                <a:lnTo>
                  <a:pt x="123468" y="1683168"/>
                </a:lnTo>
                <a:lnTo>
                  <a:pt x="126007" y="1692689"/>
                </a:lnTo>
                <a:lnTo>
                  <a:pt x="129498" y="1701576"/>
                </a:lnTo>
                <a:lnTo>
                  <a:pt x="132672" y="1710780"/>
                </a:lnTo>
                <a:lnTo>
                  <a:pt x="136798" y="1719666"/>
                </a:lnTo>
                <a:lnTo>
                  <a:pt x="140924" y="1728235"/>
                </a:lnTo>
                <a:lnTo>
                  <a:pt x="145685" y="1736170"/>
                </a:lnTo>
                <a:lnTo>
                  <a:pt x="151398" y="1744739"/>
                </a:lnTo>
                <a:lnTo>
                  <a:pt x="156794" y="1752356"/>
                </a:lnTo>
                <a:lnTo>
                  <a:pt x="162507" y="1759656"/>
                </a:lnTo>
                <a:lnTo>
                  <a:pt x="168855" y="1766955"/>
                </a:lnTo>
                <a:lnTo>
                  <a:pt x="175203" y="1773938"/>
                </a:lnTo>
                <a:lnTo>
                  <a:pt x="182186" y="1780285"/>
                </a:lnTo>
                <a:lnTo>
                  <a:pt x="189486" y="1786633"/>
                </a:lnTo>
                <a:lnTo>
                  <a:pt x="196786" y="1792345"/>
                </a:lnTo>
                <a:lnTo>
                  <a:pt x="204721" y="1798375"/>
                </a:lnTo>
                <a:lnTo>
                  <a:pt x="212973" y="1803453"/>
                </a:lnTo>
                <a:lnTo>
                  <a:pt x="221226" y="1808214"/>
                </a:lnTo>
                <a:lnTo>
                  <a:pt x="229478" y="1812340"/>
                </a:lnTo>
                <a:lnTo>
                  <a:pt x="238365" y="1816466"/>
                </a:lnTo>
                <a:lnTo>
                  <a:pt x="247570" y="1819640"/>
                </a:lnTo>
                <a:lnTo>
                  <a:pt x="256457" y="1823131"/>
                </a:lnTo>
                <a:lnTo>
                  <a:pt x="265979" y="1825670"/>
                </a:lnTo>
                <a:lnTo>
                  <a:pt x="275500" y="1827891"/>
                </a:lnTo>
                <a:lnTo>
                  <a:pt x="285340" y="1829478"/>
                </a:lnTo>
                <a:lnTo>
                  <a:pt x="295179" y="1831065"/>
                </a:lnTo>
                <a:lnTo>
                  <a:pt x="305336" y="1831700"/>
                </a:lnTo>
                <a:lnTo>
                  <a:pt x="315492" y="1831700"/>
                </a:lnTo>
                <a:lnTo>
                  <a:pt x="1632371" y="1831700"/>
                </a:lnTo>
                <a:lnTo>
                  <a:pt x="1642527" y="1831700"/>
                </a:lnTo>
                <a:lnTo>
                  <a:pt x="1652367" y="1831065"/>
                </a:lnTo>
                <a:lnTo>
                  <a:pt x="1662523" y="1829478"/>
                </a:lnTo>
                <a:lnTo>
                  <a:pt x="1672045" y="1827891"/>
                </a:lnTo>
                <a:lnTo>
                  <a:pt x="1681885" y="1825670"/>
                </a:lnTo>
                <a:lnTo>
                  <a:pt x="1691089" y="1823131"/>
                </a:lnTo>
                <a:lnTo>
                  <a:pt x="1700611" y="1819640"/>
                </a:lnTo>
                <a:lnTo>
                  <a:pt x="1709181" y="1816466"/>
                </a:lnTo>
                <a:lnTo>
                  <a:pt x="1718385" y="1812340"/>
                </a:lnTo>
                <a:lnTo>
                  <a:pt x="1726637" y="1808214"/>
                </a:lnTo>
                <a:lnTo>
                  <a:pt x="1735207" y="1803453"/>
                </a:lnTo>
                <a:lnTo>
                  <a:pt x="1743142" y="1798375"/>
                </a:lnTo>
                <a:lnTo>
                  <a:pt x="1750760" y="1792345"/>
                </a:lnTo>
                <a:lnTo>
                  <a:pt x="1758377" y="1786633"/>
                </a:lnTo>
                <a:lnTo>
                  <a:pt x="1765677" y="1780285"/>
                </a:lnTo>
                <a:lnTo>
                  <a:pt x="1772660" y="1773938"/>
                </a:lnTo>
                <a:lnTo>
                  <a:pt x="1779325" y="1766955"/>
                </a:lnTo>
                <a:lnTo>
                  <a:pt x="1785356" y="1759973"/>
                </a:lnTo>
                <a:lnTo>
                  <a:pt x="1791069" y="1752356"/>
                </a:lnTo>
                <a:lnTo>
                  <a:pt x="1796782" y="1744739"/>
                </a:lnTo>
                <a:lnTo>
                  <a:pt x="1801861" y="1736805"/>
                </a:lnTo>
                <a:lnTo>
                  <a:pt x="1806621" y="1728235"/>
                </a:lnTo>
                <a:lnTo>
                  <a:pt x="1810748" y="1719666"/>
                </a:lnTo>
                <a:lnTo>
                  <a:pt x="1814874" y="1710780"/>
                </a:lnTo>
                <a:lnTo>
                  <a:pt x="1818683" y="1702211"/>
                </a:lnTo>
                <a:lnTo>
                  <a:pt x="1821857" y="1692689"/>
                </a:lnTo>
                <a:lnTo>
                  <a:pt x="1824396" y="1683168"/>
                </a:lnTo>
                <a:lnTo>
                  <a:pt x="1826617" y="1673647"/>
                </a:lnTo>
                <a:lnTo>
                  <a:pt x="1828522" y="1663808"/>
                </a:lnTo>
                <a:lnTo>
                  <a:pt x="1829474" y="1653970"/>
                </a:lnTo>
                <a:lnTo>
                  <a:pt x="1830109" y="1643814"/>
                </a:lnTo>
                <a:lnTo>
                  <a:pt x="1830426" y="1633658"/>
                </a:lnTo>
                <a:lnTo>
                  <a:pt x="1830426" y="1113162"/>
                </a:lnTo>
                <a:lnTo>
                  <a:pt x="1830426" y="773570"/>
                </a:lnTo>
                <a:lnTo>
                  <a:pt x="1947863" y="656458"/>
                </a:lnTo>
                <a:lnTo>
                  <a:pt x="1947863" y="1738391"/>
                </a:lnTo>
                <a:lnTo>
                  <a:pt x="1947546" y="1748865"/>
                </a:lnTo>
                <a:lnTo>
                  <a:pt x="1946911" y="1758704"/>
                </a:lnTo>
                <a:lnTo>
                  <a:pt x="1945324" y="1768860"/>
                </a:lnTo>
                <a:lnTo>
                  <a:pt x="1943419" y="1778063"/>
                </a:lnTo>
                <a:lnTo>
                  <a:pt x="1941198" y="1787902"/>
                </a:lnTo>
                <a:lnTo>
                  <a:pt x="1938659" y="1797423"/>
                </a:lnTo>
                <a:lnTo>
                  <a:pt x="1935802" y="1806627"/>
                </a:lnTo>
                <a:lnTo>
                  <a:pt x="1932311" y="1815831"/>
                </a:lnTo>
                <a:lnTo>
                  <a:pt x="1928184" y="1824400"/>
                </a:lnTo>
                <a:lnTo>
                  <a:pt x="1923741" y="1832969"/>
                </a:lnTo>
                <a:lnTo>
                  <a:pt x="1918980" y="1841221"/>
                </a:lnTo>
                <a:lnTo>
                  <a:pt x="1913902" y="1849156"/>
                </a:lnTo>
                <a:lnTo>
                  <a:pt x="1908188" y="1856773"/>
                </a:lnTo>
                <a:lnTo>
                  <a:pt x="1902475" y="1864707"/>
                </a:lnTo>
                <a:lnTo>
                  <a:pt x="1896127" y="1871689"/>
                </a:lnTo>
                <a:lnTo>
                  <a:pt x="1889462" y="1878671"/>
                </a:lnTo>
                <a:lnTo>
                  <a:pt x="1882797" y="1885336"/>
                </a:lnTo>
                <a:lnTo>
                  <a:pt x="1875497" y="1891366"/>
                </a:lnTo>
                <a:lnTo>
                  <a:pt x="1868197" y="1897397"/>
                </a:lnTo>
                <a:lnTo>
                  <a:pt x="1860579" y="1902792"/>
                </a:lnTo>
                <a:lnTo>
                  <a:pt x="1852327" y="1907870"/>
                </a:lnTo>
                <a:lnTo>
                  <a:pt x="1844074" y="1912631"/>
                </a:lnTo>
                <a:lnTo>
                  <a:pt x="1835187" y="1917074"/>
                </a:lnTo>
                <a:lnTo>
                  <a:pt x="1826617" y="1920882"/>
                </a:lnTo>
                <a:lnTo>
                  <a:pt x="1817413" y="1924691"/>
                </a:lnTo>
                <a:lnTo>
                  <a:pt x="1808209" y="1927865"/>
                </a:lnTo>
                <a:lnTo>
                  <a:pt x="1799004" y="1930404"/>
                </a:lnTo>
                <a:lnTo>
                  <a:pt x="1789482" y="1932625"/>
                </a:lnTo>
                <a:lnTo>
                  <a:pt x="1779643" y="1934530"/>
                </a:lnTo>
                <a:lnTo>
                  <a:pt x="1769803" y="1935482"/>
                </a:lnTo>
                <a:lnTo>
                  <a:pt x="1759647" y="1936434"/>
                </a:lnTo>
                <a:lnTo>
                  <a:pt x="1749173" y="1936751"/>
                </a:lnTo>
                <a:lnTo>
                  <a:pt x="198373" y="1936751"/>
                </a:lnTo>
                <a:lnTo>
                  <a:pt x="188216" y="1936434"/>
                </a:lnTo>
                <a:lnTo>
                  <a:pt x="178377" y="1935482"/>
                </a:lnTo>
                <a:lnTo>
                  <a:pt x="168538" y="1934530"/>
                </a:lnTo>
                <a:lnTo>
                  <a:pt x="158699" y="1932625"/>
                </a:lnTo>
                <a:lnTo>
                  <a:pt x="148859" y="1930404"/>
                </a:lnTo>
                <a:lnTo>
                  <a:pt x="139655" y="1927865"/>
                </a:lnTo>
                <a:lnTo>
                  <a:pt x="130133" y="1924691"/>
                </a:lnTo>
                <a:lnTo>
                  <a:pt x="121246" y="1920882"/>
                </a:lnTo>
                <a:lnTo>
                  <a:pt x="112359" y="1917074"/>
                </a:lnTo>
                <a:lnTo>
                  <a:pt x="103789" y="1912631"/>
                </a:lnTo>
                <a:lnTo>
                  <a:pt x="95537" y="1907870"/>
                </a:lnTo>
                <a:lnTo>
                  <a:pt x="87602" y="1902792"/>
                </a:lnTo>
                <a:lnTo>
                  <a:pt x="79984" y="1897397"/>
                </a:lnTo>
                <a:lnTo>
                  <a:pt x="72049" y="1891366"/>
                </a:lnTo>
                <a:lnTo>
                  <a:pt x="65067" y="1885336"/>
                </a:lnTo>
                <a:lnTo>
                  <a:pt x="58084" y="1878671"/>
                </a:lnTo>
                <a:lnTo>
                  <a:pt x="51418" y="1871689"/>
                </a:lnTo>
                <a:lnTo>
                  <a:pt x="45388" y="1864707"/>
                </a:lnTo>
                <a:lnTo>
                  <a:pt x="39357" y="1856773"/>
                </a:lnTo>
                <a:lnTo>
                  <a:pt x="33962" y="1849156"/>
                </a:lnTo>
                <a:lnTo>
                  <a:pt x="28883" y="1841221"/>
                </a:lnTo>
                <a:lnTo>
                  <a:pt x="24122" y="1832969"/>
                </a:lnTo>
                <a:lnTo>
                  <a:pt x="19679" y="1824400"/>
                </a:lnTo>
                <a:lnTo>
                  <a:pt x="15870" y="1815831"/>
                </a:lnTo>
                <a:lnTo>
                  <a:pt x="12061" y="1806627"/>
                </a:lnTo>
                <a:lnTo>
                  <a:pt x="8887" y="1797423"/>
                </a:lnTo>
                <a:lnTo>
                  <a:pt x="6348" y="1787902"/>
                </a:lnTo>
                <a:lnTo>
                  <a:pt x="4126" y="1778063"/>
                </a:lnTo>
                <a:lnTo>
                  <a:pt x="2222" y="1768860"/>
                </a:lnTo>
                <a:lnTo>
                  <a:pt x="1270" y="1758704"/>
                </a:lnTo>
                <a:lnTo>
                  <a:pt x="318" y="1748865"/>
                </a:lnTo>
                <a:lnTo>
                  <a:pt x="0" y="1738391"/>
                </a:lnTo>
                <a:lnTo>
                  <a:pt x="0" y="517448"/>
                </a:lnTo>
                <a:lnTo>
                  <a:pt x="318" y="507292"/>
                </a:lnTo>
                <a:lnTo>
                  <a:pt x="1270" y="497453"/>
                </a:lnTo>
                <a:lnTo>
                  <a:pt x="2222" y="487297"/>
                </a:lnTo>
                <a:lnTo>
                  <a:pt x="4126" y="477776"/>
                </a:lnTo>
                <a:lnTo>
                  <a:pt x="6348" y="467937"/>
                </a:lnTo>
                <a:lnTo>
                  <a:pt x="8887" y="458416"/>
                </a:lnTo>
                <a:lnTo>
                  <a:pt x="12061" y="449212"/>
                </a:lnTo>
                <a:lnTo>
                  <a:pt x="15870" y="440008"/>
                </a:lnTo>
                <a:lnTo>
                  <a:pt x="19679" y="431439"/>
                </a:lnTo>
                <a:lnTo>
                  <a:pt x="24122" y="423187"/>
                </a:lnTo>
                <a:lnTo>
                  <a:pt x="28883" y="414618"/>
                </a:lnTo>
                <a:lnTo>
                  <a:pt x="33962" y="406684"/>
                </a:lnTo>
                <a:lnTo>
                  <a:pt x="39357" y="399067"/>
                </a:lnTo>
                <a:lnTo>
                  <a:pt x="45388" y="391450"/>
                </a:lnTo>
                <a:lnTo>
                  <a:pt x="51418" y="384150"/>
                </a:lnTo>
                <a:lnTo>
                  <a:pt x="58084" y="377168"/>
                </a:lnTo>
                <a:lnTo>
                  <a:pt x="65067" y="370503"/>
                </a:lnTo>
                <a:lnTo>
                  <a:pt x="72049" y="364473"/>
                </a:lnTo>
                <a:lnTo>
                  <a:pt x="79984" y="358443"/>
                </a:lnTo>
                <a:lnTo>
                  <a:pt x="87602" y="353047"/>
                </a:lnTo>
                <a:lnTo>
                  <a:pt x="95537" y="347969"/>
                </a:lnTo>
                <a:lnTo>
                  <a:pt x="103789" y="343209"/>
                </a:lnTo>
                <a:lnTo>
                  <a:pt x="112359" y="338766"/>
                </a:lnTo>
                <a:lnTo>
                  <a:pt x="121246" y="334957"/>
                </a:lnTo>
                <a:lnTo>
                  <a:pt x="130133" y="331149"/>
                </a:lnTo>
                <a:lnTo>
                  <a:pt x="139655" y="328292"/>
                </a:lnTo>
                <a:lnTo>
                  <a:pt x="148859" y="325436"/>
                </a:lnTo>
                <a:lnTo>
                  <a:pt x="158699" y="323214"/>
                </a:lnTo>
                <a:lnTo>
                  <a:pt x="168538" y="321310"/>
                </a:lnTo>
                <a:lnTo>
                  <a:pt x="178377" y="320358"/>
                </a:lnTo>
                <a:lnTo>
                  <a:pt x="188216" y="319723"/>
                </a:lnTo>
                <a:lnTo>
                  <a:pt x="198373" y="319088"/>
                </a:lnTo>
                <a:close/>
                <a:moveTo>
                  <a:pt x="2076641" y="106363"/>
                </a:moveTo>
                <a:lnTo>
                  <a:pt x="2082030" y="106363"/>
                </a:lnTo>
                <a:lnTo>
                  <a:pt x="2087102" y="106363"/>
                </a:lnTo>
                <a:lnTo>
                  <a:pt x="2092174" y="106679"/>
                </a:lnTo>
                <a:lnTo>
                  <a:pt x="2097246" y="107313"/>
                </a:lnTo>
                <a:lnTo>
                  <a:pt x="2102318" y="108263"/>
                </a:lnTo>
                <a:lnTo>
                  <a:pt x="2107390" y="109213"/>
                </a:lnTo>
                <a:lnTo>
                  <a:pt x="2112145" y="110797"/>
                </a:lnTo>
                <a:lnTo>
                  <a:pt x="2117217" y="112064"/>
                </a:lnTo>
                <a:lnTo>
                  <a:pt x="2121972" y="113965"/>
                </a:lnTo>
                <a:lnTo>
                  <a:pt x="2126727" y="116182"/>
                </a:lnTo>
                <a:lnTo>
                  <a:pt x="2131482" y="118399"/>
                </a:lnTo>
                <a:lnTo>
                  <a:pt x="2136237" y="120933"/>
                </a:lnTo>
                <a:lnTo>
                  <a:pt x="2140358" y="123784"/>
                </a:lnTo>
                <a:lnTo>
                  <a:pt x="2144796" y="126634"/>
                </a:lnTo>
                <a:lnTo>
                  <a:pt x="2148916" y="130119"/>
                </a:lnTo>
                <a:lnTo>
                  <a:pt x="2153354" y="133603"/>
                </a:lnTo>
                <a:lnTo>
                  <a:pt x="2157158" y="137087"/>
                </a:lnTo>
                <a:lnTo>
                  <a:pt x="2166351" y="146589"/>
                </a:lnTo>
                <a:lnTo>
                  <a:pt x="2169838" y="150707"/>
                </a:lnTo>
                <a:lnTo>
                  <a:pt x="2173642" y="154825"/>
                </a:lnTo>
                <a:lnTo>
                  <a:pt x="2176812" y="158626"/>
                </a:lnTo>
                <a:lnTo>
                  <a:pt x="2179665" y="163060"/>
                </a:lnTo>
                <a:lnTo>
                  <a:pt x="2182835" y="167811"/>
                </a:lnTo>
                <a:lnTo>
                  <a:pt x="2185371" y="172246"/>
                </a:lnTo>
                <a:lnTo>
                  <a:pt x="2187273" y="176997"/>
                </a:lnTo>
                <a:lnTo>
                  <a:pt x="2189492" y="181748"/>
                </a:lnTo>
                <a:lnTo>
                  <a:pt x="2191394" y="186183"/>
                </a:lnTo>
                <a:lnTo>
                  <a:pt x="2192979" y="191567"/>
                </a:lnTo>
                <a:lnTo>
                  <a:pt x="2194247" y="196002"/>
                </a:lnTo>
                <a:lnTo>
                  <a:pt x="2195515" y="201387"/>
                </a:lnTo>
                <a:lnTo>
                  <a:pt x="2196149" y="206454"/>
                </a:lnTo>
                <a:lnTo>
                  <a:pt x="2196783" y="211522"/>
                </a:lnTo>
                <a:lnTo>
                  <a:pt x="2197100" y="216590"/>
                </a:lnTo>
                <a:lnTo>
                  <a:pt x="2197100" y="221658"/>
                </a:lnTo>
                <a:lnTo>
                  <a:pt x="2197100" y="226726"/>
                </a:lnTo>
                <a:lnTo>
                  <a:pt x="2196783" y="231794"/>
                </a:lnTo>
                <a:lnTo>
                  <a:pt x="2196149" y="236862"/>
                </a:lnTo>
                <a:lnTo>
                  <a:pt x="2195515" y="241613"/>
                </a:lnTo>
                <a:lnTo>
                  <a:pt x="2194247" y="246681"/>
                </a:lnTo>
                <a:lnTo>
                  <a:pt x="2192979" y="251749"/>
                </a:lnTo>
                <a:lnTo>
                  <a:pt x="2191394" y="256500"/>
                </a:lnTo>
                <a:lnTo>
                  <a:pt x="2189492" y="261251"/>
                </a:lnTo>
                <a:lnTo>
                  <a:pt x="2187273" y="266319"/>
                </a:lnTo>
                <a:lnTo>
                  <a:pt x="2185371" y="270754"/>
                </a:lnTo>
                <a:lnTo>
                  <a:pt x="2182835" y="275505"/>
                </a:lnTo>
                <a:lnTo>
                  <a:pt x="2179665" y="279623"/>
                </a:lnTo>
                <a:lnTo>
                  <a:pt x="2176812" y="284057"/>
                </a:lnTo>
                <a:lnTo>
                  <a:pt x="2173642" y="288492"/>
                </a:lnTo>
                <a:lnTo>
                  <a:pt x="2169838" y="292609"/>
                </a:lnTo>
                <a:lnTo>
                  <a:pt x="2166351" y="296410"/>
                </a:lnTo>
                <a:lnTo>
                  <a:pt x="1970764" y="491843"/>
                </a:lnTo>
                <a:lnTo>
                  <a:pt x="1967277" y="495010"/>
                </a:lnTo>
                <a:lnTo>
                  <a:pt x="1963473" y="498178"/>
                </a:lnTo>
                <a:lnTo>
                  <a:pt x="1959986" y="500712"/>
                </a:lnTo>
                <a:lnTo>
                  <a:pt x="1956816" y="502612"/>
                </a:lnTo>
                <a:lnTo>
                  <a:pt x="1953329" y="504513"/>
                </a:lnTo>
                <a:lnTo>
                  <a:pt x="1950476" y="505463"/>
                </a:lnTo>
                <a:lnTo>
                  <a:pt x="1947623" y="505780"/>
                </a:lnTo>
                <a:lnTo>
                  <a:pt x="1944771" y="506413"/>
                </a:lnTo>
                <a:lnTo>
                  <a:pt x="1941918" y="505780"/>
                </a:lnTo>
                <a:lnTo>
                  <a:pt x="1939382" y="505463"/>
                </a:lnTo>
                <a:lnTo>
                  <a:pt x="1936846" y="504513"/>
                </a:lnTo>
                <a:lnTo>
                  <a:pt x="1933993" y="502929"/>
                </a:lnTo>
                <a:lnTo>
                  <a:pt x="1931457" y="501662"/>
                </a:lnTo>
                <a:lnTo>
                  <a:pt x="1928921" y="499445"/>
                </a:lnTo>
                <a:lnTo>
                  <a:pt x="1924166" y="494694"/>
                </a:lnTo>
                <a:lnTo>
                  <a:pt x="1919094" y="489309"/>
                </a:lnTo>
                <a:lnTo>
                  <a:pt x="1914022" y="482657"/>
                </a:lnTo>
                <a:lnTo>
                  <a:pt x="1903561" y="467770"/>
                </a:lnTo>
                <a:lnTo>
                  <a:pt x="1897855" y="459852"/>
                </a:lnTo>
                <a:lnTo>
                  <a:pt x="1891515" y="451616"/>
                </a:lnTo>
                <a:lnTo>
                  <a:pt x="1884541" y="443698"/>
                </a:lnTo>
                <a:lnTo>
                  <a:pt x="1877250" y="435779"/>
                </a:lnTo>
                <a:lnTo>
                  <a:pt x="1868057" y="426277"/>
                </a:lnTo>
                <a:lnTo>
                  <a:pt x="1859815" y="418991"/>
                </a:lnTo>
                <a:lnTo>
                  <a:pt x="1851890" y="412023"/>
                </a:lnTo>
                <a:lnTo>
                  <a:pt x="1843966" y="406005"/>
                </a:lnTo>
                <a:lnTo>
                  <a:pt x="1836041" y="399987"/>
                </a:lnTo>
                <a:lnTo>
                  <a:pt x="1820825" y="389217"/>
                </a:lnTo>
                <a:lnTo>
                  <a:pt x="1814485" y="384466"/>
                </a:lnTo>
                <a:lnTo>
                  <a:pt x="1808462" y="379398"/>
                </a:lnTo>
                <a:lnTo>
                  <a:pt x="1804024" y="374647"/>
                </a:lnTo>
                <a:lnTo>
                  <a:pt x="1802122" y="372113"/>
                </a:lnTo>
                <a:lnTo>
                  <a:pt x="1800220" y="369579"/>
                </a:lnTo>
                <a:lnTo>
                  <a:pt x="1798635" y="367045"/>
                </a:lnTo>
                <a:lnTo>
                  <a:pt x="1798001" y="364511"/>
                </a:lnTo>
                <a:lnTo>
                  <a:pt x="1797367" y="361660"/>
                </a:lnTo>
                <a:lnTo>
                  <a:pt x="1797050" y="359126"/>
                </a:lnTo>
                <a:lnTo>
                  <a:pt x="1797367" y="355959"/>
                </a:lnTo>
                <a:lnTo>
                  <a:pt x="1797684" y="353108"/>
                </a:lnTo>
                <a:lnTo>
                  <a:pt x="1798635" y="349941"/>
                </a:lnTo>
                <a:lnTo>
                  <a:pt x="1800220" y="346773"/>
                </a:lnTo>
                <a:lnTo>
                  <a:pt x="1802439" y="343289"/>
                </a:lnTo>
                <a:lnTo>
                  <a:pt x="1804975" y="340122"/>
                </a:lnTo>
                <a:lnTo>
                  <a:pt x="1807828" y="336637"/>
                </a:lnTo>
                <a:lnTo>
                  <a:pt x="1811632" y="332520"/>
                </a:lnTo>
                <a:lnTo>
                  <a:pt x="2006902" y="137087"/>
                </a:lnTo>
                <a:lnTo>
                  <a:pt x="2011023" y="133603"/>
                </a:lnTo>
                <a:lnTo>
                  <a:pt x="2014827" y="130119"/>
                </a:lnTo>
                <a:lnTo>
                  <a:pt x="2019265" y="126634"/>
                </a:lnTo>
                <a:lnTo>
                  <a:pt x="2023703" y="123784"/>
                </a:lnTo>
                <a:lnTo>
                  <a:pt x="2028141" y="120933"/>
                </a:lnTo>
                <a:lnTo>
                  <a:pt x="2032896" y="118399"/>
                </a:lnTo>
                <a:lnTo>
                  <a:pt x="2037017" y="116182"/>
                </a:lnTo>
                <a:lnTo>
                  <a:pt x="2041772" y="113965"/>
                </a:lnTo>
                <a:lnTo>
                  <a:pt x="2046843" y="112064"/>
                </a:lnTo>
                <a:lnTo>
                  <a:pt x="2051598" y="110797"/>
                </a:lnTo>
                <a:lnTo>
                  <a:pt x="2056670" y="109213"/>
                </a:lnTo>
                <a:lnTo>
                  <a:pt x="2061425" y="108263"/>
                </a:lnTo>
                <a:lnTo>
                  <a:pt x="2066497" y="107313"/>
                </a:lnTo>
                <a:lnTo>
                  <a:pt x="2071569" y="106679"/>
                </a:lnTo>
                <a:lnTo>
                  <a:pt x="2076641" y="106363"/>
                </a:lnTo>
                <a:close/>
                <a:moveTo>
                  <a:pt x="2213628" y="19050"/>
                </a:moveTo>
                <a:lnTo>
                  <a:pt x="2219371" y="19369"/>
                </a:lnTo>
                <a:lnTo>
                  <a:pt x="2225751" y="20007"/>
                </a:lnTo>
                <a:lnTo>
                  <a:pt x="2231493" y="21602"/>
                </a:lnTo>
                <a:lnTo>
                  <a:pt x="2237236" y="23516"/>
                </a:lnTo>
                <a:lnTo>
                  <a:pt x="2242978" y="26387"/>
                </a:lnTo>
                <a:lnTo>
                  <a:pt x="2248401" y="29258"/>
                </a:lnTo>
                <a:lnTo>
                  <a:pt x="2253506" y="33087"/>
                </a:lnTo>
                <a:lnTo>
                  <a:pt x="2258291" y="37234"/>
                </a:lnTo>
                <a:lnTo>
                  <a:pt x="2262757" y="42019"/>
                </a:lnTo>
                <a:lnTo>
                  <a:pt x="2266266" y="47123"/>
                </a:lnTo>
                <a:lnTo>
                  <a:pt x="2269457" y="52547"/>
                </a:lnTo>
                <a:lnTo>
                  <a:pt x="2272009" y="58608"/>
                </a:lnTo>
                <a:lnTo>
                  <a:pt x="2273923" y="64350"/>
                </a:lnTo>
                <a:lnTo>
                  <a:pt x="2275518" y="70412"/>
                </a:lnTo>
                <a:lnTo>
                  <a:pt x="2276475" y="76154"/>
                </a:lnTo>
                <a:lnTo>
                  <a:pt x="2276475" y="82216"/>
                </a:lnTo>
                <a:lnTo>
                  <a:pt x="2276475" y="88277"/>
                </a:lnTo>
                <a:lnTo>
                  <a:pt x="2275518" y="94338"/>
                </a:lnTo>
                <a:lnTo>
                  <a:pt x="2273923" y="100400"/>
                </a:lnTo>
                <a:lnTo>
                  <a:pt x="2272009" y="106142"/>
                </a:lnTo>
                <a:lnTo>
                  <a:pt x="2269457" y="111565"/>
                </a:lnTo>
                <a:lnTo>
                  <a:pt x="2266266" y="117308"/>
                </a:lnTo>
                <a:lnTo>
                  <a:pt x="2262757" y="122412"/>
                </a:lnTo>
                <a:lnTo>
                  <a:pt x="2258291" y="126878"/>
                </a:lnTo>
                <a:lnTo>
                  <a:pt x="2241064" y="144105"/>
                </a:lnTo>
                <a:lnTo>
                  <a:pt x="2236598" y="148253"/>
                </a:lnTo>
                <a:lnTo>
                  <a:pt x="2232769" y="150805"/>
                </a:lnTo>
                <a:lnTo>
                  <a:pt x="2230855" y="151443"/>
                </a:lnTo>
                <a:lnTo>
                  <a:pt x="2228941" y="152400"/>
                </a:lnTo>
                <a:lnTo>
                  <a:pt x="2227346" y="152400"/>
                </a:lnTo>
                <a:lnTo>
                  <a:pt x="2225751" y="152400"/>
                </a:lnTo>
                <a:lnTo>
                  <a:pt x="2224156" y="152081"/>
                </a:lnTo>
                <a:lnTo>
                  <a:pt x="2222880" y="151443"/>
                </a:lnTo>
                <a:lnTo>
                  <a:pt x="2220009" y="149848"/>
                </a:lnTo>
                <a:lnTo>
                  <a:pt x="2217456" y="147295"/>
                </a:lnTo>
                <a:lnTo>
                  <a:pt x="2214904" y="143786"/>
                </a:lnTo>
                <a:lnTo>
                  <a:pt x="2212352" y="140277"/>
                </a:lnTo>
                <a:lnTo>
                  <a:pt x="2209800" y="135811"/>
                </a:lnTo>
                <a:lnTo>
                  <a:pt x="2204058" y="126240"/>
                </a:lnTo>
                <a:lnTo>
                  <a:pt x="2201186" y="121455"/>
                </a:lnTo>
                <a:lnTo>
                  <a:pt x="2197358" y="116351"/>
                </a:lnTo>
                <a:lnTo>
                  <a:pt x="2193530" y="111246"/>
                </a:lnTo>
                <a:lnTo>
                  <a:pt x="2189064" y="106461"/>
                </a:lnTo>
                <a:lnTo>
                  <a:pt x="2184278" y="101995"/>
                </a:lnTo>
                <a:lnTo>
                  <a:pt x="2179493" y="98167"/>
                </a:lnTo>
                <a:lnTo>
                  <a:pt x="2174389" y="94657"/>
                </a:lnTo>
                <a:lnTo>
                  <a:pt x="2169285" y="91467"/>
                </a:lnTo>
                <a:lnTo>
                  <a:pt x="2159714" y="85725"/>
                </a:lnTo>
                <a:lnTo>
                  <a:pt x="2155248" y="83173"/>
                </a:lnTo>
                <a:lnTo>
                  <a:pt x="2151739" y="80620"/>
                </a:lnTo>
                <a:lnTo>
                  <a:pt x="2148229" y="78068"/>
                </a:lnTo>
                <a:lnTo>
                  <a:pt x="2145677" y="75516"/>
                </a:lnTo>
                <a:lnTo>
                  <a:pt x="2144082" y="72964"/>
                </a:lnTo>
                <a:lnTo>
                  <a:pt x="2143763" y="71369"/>
                </a:lnTo>
                <a:lnTo>
                  <a:pt x="2143125" y="69774"/>
                </a:lnTo>
                <a:lnTo>
                  <a:pt x="2143125" y="68179"/>
                </a:lnTo>
                <a:lnTo>
                  <a:pt x="2143763" y="66584"/>
                </a:lnTo>
                <a:lnTo>
                  <a:pt x="2144082" y="64669"/>
                </a:lnTo>
                <a:lnTo>
                  <a:pt x="2144720" y="63074"/>
                </a:lnTo>
                <a:lnTo>
                  <a:pt x="2147591" y="59246"/>
                </a:lnTo>
                <a:lnTo>
                  <a:pt x="2151419" y="54780"/>
                </a:lnTo>
                <a:lnTo>
                  <a:pt x="2168647" y="37234"/>
                </a:lnTo>
                <a:lnTo>
                  <a:pt x="2173751" y="33087"/>
                </a:lnTo>
                <a:lnTo>
                  <a:pt x="2178855" y="29258"/>
                </a:lnTo>
                <a:lnTo>
                  <a:pt x="2183959" y="26387"/>
                </a:lnTo>
                <a:lnTo>
                  <a:pt x="2189702" y="23516"/>
                </a:lnTo>
                <a:lnTo>
                  <a:pt x="2195125" y="21602"/>
                </a:lnTo>
                <a:lnTo>
                  <a:pt x="2201506" y="20007"/>
                </a:lnTo>
                <a:lnTo>
                  <a:pt x="2207248" y="19369"/>
                </a:lnTo>
                <a:lnTo>
                  <a:pt x="2213628" y="19050"/>
                </a:lnTo>
                <a:close/>
                <a:moveTo>
                  <a:pt x="1985550" y="0"/>
                </a:moveTo>
                <a:lnTo>
                  <a:pt x="1989686" y="0"/>
                </a:lnTo>
                <a:lnTo>
                  <a:pt x="1993822" y="0"/>
                </a:lnTo>
                <a:lnTo>
                  <a:pt x="1997640" y="634"/>
                </a:lnTo>
                <a:lnTo>
                  <a:pt x="2001776" y="1903"/>
                </a:lnTo>
                <a:lnTo>
                  <a:pt x="2005594" y="2855"/>
                </a:lnTo>
                <a:lnTo>
                  <a:pt x="2009411" y="4759"/>
                </a:lnTo>
                <a:lnTo>
                  <a:pt x="2012911" y="6980"/>
                </a:lnTo>
                <a:lnTo>
                  <a:pt x="2016411" y="9518"/>
                </a:lnTo>
                <a:lnTo>
                  <a:pt x="2019592" y="12374"/>
                </a:lnTo>
                <a:lnTo>
                  <a:pt x="2022456" y="15229"/>
                </a:lnTo>
                <a:lnTo>
                  <a:pt x="2025001" y="19037"/>
                </a:lnTo>
                <a:lnTo>
                  <a:pt x="2026910" y="22210"/>
                </a:lnTo>
                <a:lnTo>
                  <a:pt x="2028819" y="26334"/>
                </a:lnTo>
                <a:lnTo>
                  <a:pt x="2030091" y="29824"/>
                </a:lnTo>
                <a:lnTo>
                  <a:pt x="2031364" y="33949"/>
                </a:lnTo>
                <a:lnTo>
                  <a:pt x="2031682" y="37757"/>
                </a:lnTo>
                <a:lnTo>
                  <a:pt x="2032000" y="41881"/>
                </a:lnTo>
                <a:lnTo>
                  <a:pt x="2031682" y="46006"/>
                </a:lnTo>
                <a:lnTo>
                  <a:pt x="2031046" y="49813"/>
                </a:lnTo>
                <a:lnTo>
                  <a:pt x="2030091" y="53938"/>
                </a:lnTo>
                <a:lnTo>
                  <a:pt x="2028819" y="57745"/>
                </a:lnTo>
                <a:lnTo>
                  <a:pt x="2026910" y="61553"/>
                </a:lnTo>
                <a:lnTo>
                  <a:pt x="2025001" y="65043"/>
                </a:lnTo>
                <a:lnTo>
                  <a:pt x="2022456" y="68533"/>
                </a:lnTo>
                <a:lnTo>
                  <a:pt x="2019592" y="71706"/>
                </a:lnTo>
                <a:lnTo>
                  <a:pt x="1637177" y="453081"/>
                </a:lnTo>
                <a:lnTo>
                  <a:pt x="1633995" y="455937"/>
                </a:lnTo>
                <a:lnTo>
                  <a:pt x="1630814" y="458158"/>
                </a:lnTo>
                <a:lnTo>
                  <a:pt x="1626996" y="460379"/>
                </a:lnTo>
                <a:lnTo>
                  <a:pt x="1623496" y="462283"/>
                </a:lnTo>
                <a:lnTo>
                  <a:pt x="1619360" y="463552"/>
                </a:lnTo>
                <a:lnTo>
                  <a:pt x="1615224" y="464186"/>
                </a:lnTo>
                <a:lnTo>
                  <a:pt x="1611407" y="465138"/>
                </a:lnTo>
                <a:lnTo>
                  <a:pt x="1607271" y="465138"/>
                </a:lnTo>
                <a:lnTo>
                  <a:pt x="1603135" y="465138"/>
                </a:lnTo>
                <a:lnTo>
                  <a:pt x="1599317" y="464186"/>
                </a:lnTo>
                <a:lnTo>
                  <a:pt x="1595181" y="463552"/>
                </a:lnTo>
                <a:lnTo>
                  <a:pt x="1591681" y="462283"/>
                </a:lnTo>
                <a:lnTo>
                  <a:pt x="1587864" y="460379"/>
                </a:lnTo>
                <a:lnTo>
                  <a:pt x="1584364" y="458158"/>
                </a:lnTo>
                <a:lnTo>
                  <a:pt x="1580864" y="455937"/>
                </a:lnTo>
                <a:lnTo>
                  <a:pt x="1577683" y="453081"/>
                </a:lnTo>
                <a:lnTo>
                  <a:pt x="1574819" y="449591"/>
                </a:lnTo>
                <a:lnTo>
                  <a:pt x="1572274" y="446418"/>
                </a:lnTo>
                <a:lnTo>
                  <a:pt x="1570047" y="442928"/>
                </a:lnTo>
                <a:lnTo>
                  <a:pt x="1568138" y="439121"/>
                </a:lnTo>
                <a:lnTo>
                  <a:pt x="1567184" y="435314"/>
                </a:lnTo>
                <a:lnTo>
                  <a:pt x="1565911" y="431189"/>
                </a:lnTo>
                <a:lnTo>
                  <a:pt x="1565275" y="427381"/>
                </a:lnTo>
                <a:lnTo>
                  <a:pt x="1565275" y="423257"/>
                </a:lnTo>
                <a:lnTo>
                  <a:pt x="1565275" y="419132"/>
                </a:lnTo>
                <a:lnTo>
                  <a:pt x="1565911" y="415007"/>
                </a:lnTo>
                <a:lnTo>
                  <a:pt x="1567184" y="411517"/>
                </a:lnTo>
                <a:lnTo>
                  <a:pt x="1568138" y="407393"/>
                </a:lnTo>
                <a:lnTo>
                  <a:pt x="1570047" y="403902"/>
                </a:lnTo>
                <a:lnTo>
                  <a:pt x="1572274" y="400095"/>
                </a:lnTo>
                <a:lnTo>
                  <a:pt x="1574819" y="396922"/>
                </a:lnTo>
                <a:lnTo>
                  <a:pt x="1577683" y="393749"/>
                </a:lnTo>
                <a:lnTo>
                  <a:pt x="1960098" y="12374"/>
                </a:lnTo>
                <a:lnTo>
                  <a:pt x="1962962" y="9518"/>
                </a:lnTo>
                <a:lnTo>
                  <a:pt x="1966779" y="6980"/>
                </a:lnTo>
                <a:lnTo>
                  <a:pt x="1970279" y="4759"/>
                </a:lnTo>
                <a:lnTo>
                  <a:pt x="1974097" y="2855"/>
                </a:lnTo>
                <a:lnTo>
                  <a:pt x="1977596" y="1903"/>
                </a:lnTo>
                <a:lnTo>
                  <a:pt x="1981732" y="634"/>
                </a:lnTo>
                <a:lnTo>
                  <a:pt x="19855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25191" y="1422943"/>
            <a:ext cx="4844459" cy="4960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研究内容一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研究内容二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研究内容三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研究内容四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研究总结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研究成果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3116048" y="3816547"/>
            <a:ext cx="1260000" cy="1260000"/>
            <a:chOff x="1174779" y="3359349"/>
            <a:chExt cx="1800000" cy="1800001"/>
          </a:xfrm>
        </p:grpSpPr>
        <p:grpSp>
          <p:nvGrpSpPr>
            <p:cNvPr id="14" name="组合 13"/>
            <p:cNvGrpSpPr/>
            <p:nvPr/>
          </p:nvGrpSpPr>
          <p:grpSpPr>
            <a:xfrm>
              <a:off x="1174779" y="3359349"/>
              <a:ext cx="1800000" cy="1800001"/>
              <a:chOff x="6250980" y="3660482"/>
              <a:chExt cx="1800000" cy="1800001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6250980" y="3660482"/>
                <a:ext cx="1800000" cy="180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E7E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 rot="19510690">
                <a:off x="6250980" y="3660483"/>
                <a:ext cx="1800000" cy="1800000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/>
                    </a:gs>
                    <a:gs pos="100000">
                      <a:srgbClr val="E7E4E9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椭圆 14"/>
            <p:cNvSpPr/>
            <p:nvPr/>
          </p:nvSpPr>
          <p:spPr>
            <a:xfrm>
              <a:off x="1354779" y="3539349"/>
              <a:ext cx="1440000" cy="1440000"/>
            </a:xfrm>
            <a:prstGeom prst="ellipse">
              <a:avLst/>
            </a:prstGeom>
            <a:solidFill>
              <a:srgbClr val="5D9FC1"/>
            </a:solidFill>
            <a:ln>
              <a:noFill/>
            </a:ln>
            <a:effectLst>
              <a:innerShdw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3523427" y="2525989"/>
            <a:ext cx="576000" cy="576000"/>
            <a:chOff x="1174779" y="3359349"/>
            <a:chExt cx="1800000" cy="1800001"/>
          </a:xfrm>
        </p:grpSpPr>
        <p:grpSp>
          <p:nvGrpSpPr>
            <p:cNvPr id="19" name="组合 18"/>
            <p:cNvGrpSpPr/>
            <p:nvPr/>
          </p:nvGrpSpPr>
          <p:grpSpPr>
            <a:xfrm>
              <a:off x="1174779" y="3359349"/>
              <a:ext cx="1800000" cy="1800001"/>
              <a:chOff x="6250980" y="3660482"/>
              <a:chExt cx="1800000" cy="1800001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6250980" y="3660482"/>
                <a:ext cx="1800000" cy="180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E7E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 rot="19510690">
                <a:off x="6250980" y="3660483"/>
                <a:ext cx="1800000" cy="1800000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/>
                    </a:gs>
                    <a:gs pos="100000">
                      <a:srgbClr val="E7E4E9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椭圆 19"/>
            <p:cNvSpPr/>
            <p:nvPr/>
          </p:nvSpPr>
          <p:spPr>
            <a:xfrm>
              <a:off x="1354779" y="3539349"/>
              <a:ext cx="1440000" cy="1440000"/>
            </a:xfrm>
            <a:prstGeom prst="ellipse">
              <a:avLst/>
            </a:prstGeom>
            <a:solidFill>
              <a:srgbClr val="183A6A"/>
            </a:solidFill>
            <a:ln>
              <a:noFill/>
            </a:ln>
            <a:effectLst>
              <a:innerShdw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886418" y="2674029"/>
            <a:ext cx="1980000" cy="1980000"/>
            <a:chOff x="6250980" y="3660482"/>
            <a:chExt cx="1800000" cy="1800001"/>
          </a:xfrm>
        </p:grpSpPr>
        <p:sp>
          <p:nvSpPr>
            <p:cNvPr id="24" name="椭圆 23"/>
            <p:cNvSpPr/>
            <p:nvPr/>
          </p:nvSpPr>
          <p:spPr>
            <a:xfrm>
              <a:off x="6250980" y="3660482"/>
              <a:ext cx="1800000" cy="1800000"/>
            </a:xfrm>
            <a:prstGeom prst="ellipse">
              <a:avLst/>
            </a:prstGeom>
            <a:gradFill flip="none" rotWithShape="1">
              <a:gsLst>
                <a:gs pos="0">
                  <a:srgbClr val="E8E7E9"/>
                </a:gs>
                <a:gs pos="10000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 rot="19510690">
              <a:off x="6250980" y="3660483"/>
              <a:ext cx="1800000" cy="1800000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bg1"/>
                  </a:gs>
                  <a:gs pos="100000">
                    <a:srgbClr val="E7E4E9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椭圆 25"/>
          <p:cNvSpPr/>
          <p:nvPr/>
        </p:nvSpPr>
        <p:spPr>
          <a:xfrm>
            <a:off x="2030418" y="2818029"/>
            <a:ext cx="1692000" cy="1692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innerShdw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" name="组合 26"/>
          <p:cNvGrpSpPr>
            <a:grpSpLocks noChangeAspect="1"/>
          </p:cNvGrpSpPr>
          <p:nvPr/>
        </p:nvGrpSpPr>
        <p:grpSpPr>
          <a:xfrm>
            <a:off x="1617949" y="1991024"/>
            <a:ext cx="1044000" cy="1044000"/>
            <a:chOff x="1174779" y="3359349"/>
            <a:chExt cx="1800000" cy="1800001"/>
          </a:xfrm>
        </p:grpSpPr>
        <p:grpSp>
          <p:nvGrpSpPr>
            <p:cNvPr id="28" name="组合 27"/>
            <p:cNvGrpSpPr/>
            <p:nvPr/>
          </p:nvGrpSpPr>
          <p:grpSpPr>
            <a:xfrm>
              <a:off x="1174779" y="3359349"/>
              <a:ext cx="1800000" cy="1800001"/>
              <a:chOff x="6250980" y="3660482"/>
              <a:chExt cx="1800000" cy="1800001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6250980" y="3660482"/>
                <a:ext cx="1800000" cy="180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E7E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 rot="19510690">
                <a:off x="6250980" y="3660483"/>
                <a:ext cx="1800000" cy="1800000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/>
                    </a:gs>
                    <a:gs pos="100000">
                      <a:srgbClr val="E7E4E9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椭圆 28"/>
            <p:cNvSpPr/>
            <p:nvPr/>
          </p:nvSpPr>
          <p:spPr>
            <a:xfrm>
              <a:off x="1354779" y="3539349"/>
              <a:ext cx="1440000" cy="1440000"/>
            </a:xfrm>
            <a:prstGeom prst="ellipse">
              <a:avLst/>
            </a:prstGeom>
            <a:solidFill>
              <a:srgbClr val="16B6CC"/>
            </a:solidFill>
            <a:ln>
              <a:noFill/>
            </a:ln>
            <a:effectLst>
              <a:innerShdw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1215070" y="4107530"/>
            <a:ext cx="648000" cy="648000"/>
            <a:chOff x="1174779" y="3359349"/>
            <a:chExt cx="1800000" cy="1800001"/>
          </a:xfrm>
        </p:grpSpPr>
        <p:grpSp>
          <p:nvGrpSpPr>
            <p:cNvPr id="33" name="组合 32"/>
            <p:cNvGrpSpPr/>
            <p:nvPr/>
          </p:nvGrpSpPr>
          <p:grpSpPr>
            <a:xfrm>
              <a:off x="1174779" y="3359349"/>
              <a:ext cx="1800000" cy="1800001"/>
              <a:chOff x="6250980" y="3660482"/>
              <a:chExt cx="1800000" cy="1800001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6250980" y="3660482"/>
                <a:ext cx="1800000" cy="180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E7E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19510690">
                <a:off x="6250980" y="3660483"/>
                <a:ext cx="1800000" cy="1800000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/>
                    </a:gs>
                    <a:gs pos="100000">
                      <a:srgbClr val="E7E4E9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椭圆 33"/>
            <p:cNvSpPr/>
            <p:nvPr/>
          </p:nvSpPr>
          <p:spPr>
            <a:xfrm>
              <a:off x="1354779" y="3539349"/>
              <a:ext cx="1440000" cy="14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innerShdw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2493911" y="3266428"/>
            <a:ext cx="876025" cy="900000"/>
            <a:chOff x="3976261" y="3892343"/>
            <a:chExt cx="326182" cy="335109"/>
          </a:xfrm>
          <a:solidFill>
            <a:schemeClr val="bg1"/>
          </a:solidFill>
        </p:grpSpPr>
        <p:sp>
          <p:nvSpPr>
            <p:cNvPr id="38" name="六边形 37"/>
            <p:cNvSpPr>
              <a:spLocks/>
            </p:cNvSpPr>
            <p:nvPr/>
          </p:nvSpPr>
          <p:spPr>
            <a:xfrm>
              <a:off x="3976261" y="3892343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六边形 38"/>
            <p:cNvSpPr>
              <a:spLocks/>
            </p:cNvSpPr>
            <p:nvPr/>
          </p:nvSpPr>
          <p:spPr>
            <a:xfrm>
              <a:off x="3976261" y="4005288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六边形 39"/>
            <p:cNvSpPr>
              <a:spLocks/>
            </p:cNvSpPr>
            <p:nvPr/>
          </p:nvSpPr>
          <p:spPr>
            <a:xfrm>
              <a:off x="3976261" y="4120615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六边形 40"/>
            <p:cNvSpPr>
              <a:spLocks/>
            </p:cNvSpPr>
            <p:nvPr/>
          </p:nvSpPr>
          <p:spPr>
            <a:xfrm>
              <a:off x="4078302" y="3945761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六边形 41"/>
            <p:cNvSpPr>
              <a:spLocks/>
            </p:cNvSpPr>
            <p:nvPr/>
          </p:nvSpPr>
          <p:spPr>
            <a:xfrm>
              <a:off x="4078302" y="4060570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六边形 42"/>
            <p:cNvSpPr>
              <a:spLocks/>
            </p:cNvSpPr>
            <p:nvPr/>
          </p:nvSpPr>
          <p:spPr>
            <a:xfrm>
              <a:off x="4180344" y="4003942"/>
              <a:ext cx="122099" cy="106837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15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3FD3D6-D5E8-40F0-A1B9-165AA8C9CA3F}"/>
              </a:ext>
            </a:extLst>
          </p:cNvPr>
          <p:cNvGrpSpPr/>
          <p:nvPr/>
        </p:nvGrpSpPr>
        <p:grpSpPr>
          <a:xfrm>
            <a:off x="-1" y="1250721"/>
            <a:ext cx="12192001" cy="3939540"/>
            <a:chOff x="1523999" y="1250721"/>
            <a:chExt cx="9144002" cy="3939540"/>
          </a:xfrm>
        </p:grpSpPr>
        <p:sp>
          <p:nvSpPr>
            <p:cNvPr id="2" name="矩形 1"/>
            <p:cNvSpPr/>
            <p:nvPr/>
          </p:nvSpPr>
          <p:spPr>
            <a:xfrm>
              <a:off x="1524000" y="2447925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solidFill>
                  <a:prstClr val="white"/>
                </a:solidFill>
                <a:latin typeface="黑体"/>
                <a:ea typeface="黑体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299130" y="1250721"/>
              <a:ext cx="3368871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25000" dirty="0">
                  <a:ln w="28575">
                    <a:solidFill>
                      <a:prstClr val="white"/>
                    </a:solidFill>
                  </a:ln>
                  <a:gradFill flip="none" rotWithShape="1">
                    <a:gsLst>
                      <a:gs pos="0">
                        <a:srgbClr val="30579B">
                          <a:shade val="30000"/>
                          <a:satMod val="115000"/>
                        </a:srgbClr>
                      </a:gs>
                      <a:gs pos="50000">
                        <a:srgbClr val="30579B">
                          <a:shade val="67500"/>
                          <a:satMod val="115000"/>
                        </a:srgbClr>
                      </a:gs>
                      <a:gs pos="100000">
                        <a:srgbClr val="30579B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latin typeface="Franklin Gothic Demi Cond" panose="020B0706030402020204" pitchFamily="34" charset="0"/>
                  <a:ea typeface="黑体"/>
                </a:rPr>
                <a:t>01</a:t>
              </a:r>
              <a:endParaRPr lang="zh-CN" altLang="en-US" sz="2500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latin typeface="Franklin Gothic Demi Cond" panose="020B0706030402020204" pitchFamily="34" charset="0"/>
                <a:ea typeface="黑体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23999" y="2840205"/>
              <a:ext cx="5775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6000" b="1">
                  <a:solidFill>
                    <a:srgbClr val="3763B1"/>
                  </a:solidFill>
                  <a:ea typeface="微软雅黑" panose="020B0503020204020204" pitchFamily="34" charset="-122"/>
                </a:rPr>
                <a:t>研究背景</a:t>
              </a:r>
              <a:endParaRPr lang="zh-CN" altLang="en-US" sz="6000" b="1" dirty="0">
                <a:solidFill>
                  <a:srgbClr val="3763B1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91600" y="180000"/>
            <a:ext cx="2521867" cy="6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1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问题介绍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68643AD-5861-4F00-9126-E2ED60ADE569}"/>
              </a:ext>
            </a:extLst>
          </p:cNvPr>
          <p:cNvSpPr txBox="1"/>
          <p:nvPr/>
        </p:nvSpPr>
        <p:spPr>
          <a:xfrm>
            <a:off x="1278383" y="1136222"/>
            <a:ext cx="9840331" cy="227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多标签学习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一个样本同时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多个标签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相关联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广泛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应用于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文本分类、图像标注、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推荐系统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生物信息学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领域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多标签学习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的重点和难点是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标签相关性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常常面临着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标签缺失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噪声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等问题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813CB9-190C-4417-8A5C-D00D9BC4D0F8}"/>
              </a:ext>
            </a:extLst>
          </p:cNvPr>
          <p:cNvGrpSpPr/>
          <p:nvPr/>
        </p:nvGrpSpPr>
        <p:grpSpPr>
          <a:xfrm>
            <a:off x="2040865" y="3678017"/>
            <a:ext cx="3728937" cy="2521519"/>
            <a:chOff x="2284058" y="3542551"/>
            <a:chExt cx="3363170" cy="234476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7C2FF1C-1EA8-4E94-BBE6-D4AB9C8A8702}"/>
                </a:ext>
              </a:extLst>
            </p:cNvPr>
            <p:cNvSpPr txBox="1"/>
            <p:nvPr/>
          </p:nvSpPr>
          <p:spPr>
            <a:xfrm>
              <a:off x="2284058" y="5484062"/>
              <a:ext cx="3363170" cy="403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zh-CN" altLang="en-US" sz="2000" b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单标签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多分类：</a:t>
              </a:r>
              <a:r>
                <a:rPr lang="en-US" altLang="zh-CN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个类别互斥</a:t>
              </a:r>
              <a:endPara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B72AB2-ED24-4593-AEBF-5E0F28AB8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058" y="3542551"/>
              <a:ext cx="3363170" cy="1999797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70F1F1D-15CB-450E-8EAB-0D44BE52A436}"/>
              </a:ext>
            </a:extLst>
          </p:cNvPr>
          <p:cNvGrpSpPr/>
          <p:nvPr/>
        </p:nvGrpSpPr>
        <p:grpSpPr>
          <a:xfrm>
            <a:off x="5901445" y="3678016"/>
            <a:ext cx="3728937" cy="2521520"/>
            <a:chOff x="5804170" y="3542550"/>
            <a:chExt cx="3363170" cy="234476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3283CC-63C6-4C10-A270-8BD6914F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4170" y="3542550"/>
              <a:ext cx="3363170" cy="199979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A834892-1B6A-4FB7-869F-2C46B3B592F2}"/>
                </a:ext>
              </a:extLst>
            </p:cNvPr>
            <p:cNvSpPr txBox="1"/>
            <p:nvPr/>
          </p:nvSpPr>
          <p:spPr>
            <a:xfrm>
              <a:off x="5804170" y="5484062"/>
              <a:ext cx="3363170" cy="403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zh-CN" altLang="en-US" sz="2000" b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多标签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个标签可以共存</a:t>
              </a:r>
              <a:endPara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64CC266A-C59B-4115-8340-76DBB8F5F38A}"/>
              </a:ext>
            </a:extLst>
          </p:cNvPr>
          <p:cNvSpPr txBox="1"/>
          <p:nvPr/>
        </p:nvSpPr>
        <p:spPr>
          <a:xfrm>
            <a:off x="7263152" y="6178433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1-1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研究现状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68643AD-5861-4F00-9126-E2ED60ADE569}"/>
              </a:ext>
            </a:extLst>
          </p:cNvPr>
          <p:cNvSpPr txBox="1"/>
          <p:nvPr/>
        </p:nvSpPr>
        <p:spPr>
          <a:xfrm>
            <a:off x="1278384" y="1225002"/>
            <a:ext cx="10326714" cy="470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集成学习方法在多标签学习中应用广泛，但存在一些</a:t>
            </a:r>
            <a:r>
              <a:rPr lang="zh-CN" altLang="en-US" sz="2400" b="1">
                <a:solidFill>
                  <a:srgbClr val="1557A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普遍问题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未能平衡标签之间的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相关性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差异性</a:t>
            </a:r>
            <a:endParaRPr lang="en-US" altLang="zh-CN" sz="22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未能平衡基学习器的准确性和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多样性</a:t>
            </a:r>
            <a:endParaRPr lang="en-US" altLang="zh-CN" sz="22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未能平衡模型的精度与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速度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集成学习方法在一些多标签学习的</a:t>
            </a:r>
            <a:r>
              <a:rPr lang="zh-CN" altLang="en-US" sz="2400" b="1">
                <a:solidFill>
                  <a:srgbClr val="1557A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特殊场景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中研究很少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弱监督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（标签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缺失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、标签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噪声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）场景中：几乎没有应用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半监督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场景中：应用很少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没有关注未知实例差异性，往往是</a:t>
            </a:r>
            <a:r>
              <a:rPr lang="zh-CN" altLang="en-US" sz="22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0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3FD3D6-D5E8-40F0-A1B9-165AA8C9CA3F}"/>
              </a:ext>
            </a:extLst>
          </p:cNvPr>
          <p:cNvGrpSpPr/>
          <p:nvPr/>
        </p:nvGrpSpPr>
        <p:grpSpPr>
          <a:xfrm>
            <a:off x="-1" y="1250721"/>
            <a:ext cx="12192000" cy="3939540"/>
            <a:chOff x="1523999" y="1250721"/>
            <a:chExt cx="9144001" cy="3939540"/>
          </a:xfrm>
        </p:grpSpPr>
        <p:sp>
          <p:nvSpPr>
            <p:cNvPr id="2" name="矩形 1"/>
            <p:cNvSpPr/>
            <p:nvPr/>
          </p:nvSpPr>
          <p:spPr>
            <a:xfrm>
              <a:off x="1524000" y="2447925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299130" y="1250721"/>
              <a:ext cx="2595903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0" b="0" i="0" u="none" strike="noStrike" kern="1200" cap="none" spc="0" normalizeH="0" baseline="0" noProof="0">
                  <a:ln w="28575">
                    <a:solidFill>
                      <a:prstClr val="white"/>
                    </a:solidFill>
                  </a:ln>
                  <a:gradFill flip="none" rotWithShape="1">
                    <a:gsLst>
                      <a:gs pos="0">
                        <a:srgbClr val="30579B">
                          <a:shade val="30000"/>
                          <a:satMod val="115000"/>
                        </a:srgbClr>
                      </a:gs>
                      <a:gs pos="50000">
                        <a:srgbClr val="30579B">
                          <a:shade val="67500"/>
                          <a:satMod val="115000"/>
                        </a:srgbClr>
                      </a:gs>
                      <a:gs pos="100000">
                        <a:srgbClr val="30579B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Franklin Gothic Demi Cond" panose="020B0706030402020204" pitchFamily="34" charset="0"/>
                  <a:ea typeface="黑体"/>
                  <a:cs typeface="+mn-cs"/>
                </a:rPr>
                <a:t>02</a:t>
              </a:r>
              <a:endParaRPr kumimoji="0" lang="zh-CN" altLang="en-US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黑体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23999" y="2840205"/>
              <a:ext cx="5775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1" i="0" u="none" strike="noStrike" kern="1200" cap="none" spc="0" normalizeH="0" baseline="0" noProof="0">
                  <a:ln>
                    <a:noFill/>
                  </a:ln>
                  <a:solidFill>
                    <a:srgbClr val="3763B1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研究</a:t>
              </a:r>
              <a:r>
                <a:rPr lang="zh-CN" altLang="en-US" sz="6000" b="1">
                  <a:solidFill>
                    <a:srgbClr val="3763B1"/>
                  </a:solidFill>
                  <a:latin typeface="Calibri" panose="020F0502020204030204"/>
                  <a:ea typeface="微软雅黑" panose="020B0503020204020204" pitchFamily="34" charset="-122"/>
                </a:rPr>
                <a:t>内容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91600" y="180000"/>
            <a:ext cx="2521867" cy="6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3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研究内容概述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194C58-3D14-4378-81F1-7B31BDAC4A11}"/>
              </a:ext>
            </a:extLst>
          </p:cNvPr>
          <p:cNvGrpSpPr/>
          <p:nvPr/>
        </p:nvGrpSpPr>
        <p:grpSpPr>
          <a:xfrm>
            <a:off x="1278384" y="1196732"/>
            <a:ext cx="9912257" cy="4954974"/>
            <a:chOff x="2188953" y="1469107"/>
            <a:chExt cx="6481510" cy="3240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07C827-D1C6-4ED5-A43E-419FAF2C86FD}"/>
                </a:ext>
              </a:extLst>
            </p:cNvPr>
            <p:cNvSpPr/>
            <p:nvPr/>
          </p:nvSpPr>
          <p:spPr>
            <a:xfrm>
              <a:off x="2190463" y="1901107"/>
              <a:ext cx="6480000" cy="360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多样化的多标签学习场景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55028CB-C296-400E-B185-30652504585D}"/>
                </a:ext>
              </a:extLst>
            </p:cNvPr>
            <p:cNvSpPr/>
            <p:nvPr/>
          </p:nvSpPr>
          <p:spPr>
            <a:xfrm>
              <a:off x="2190463" y="2333107"/>
              <a:ext cx="6480000" cy="1944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504571F-805C-4617-978D-765288391652}"/>
                </a:ext>
              </a:extLst>
            </p:cNvPr>
            <p:cNvSpPr/>
            <p:nvPr/>
          </p:nvSpPr>
          <p:spPr>
            <a:xfrm>
              <a:off x="2332953" y="2405107"/>
              <a:ext cx="1440000" cy="576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标签完备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DFA9F3F-0260-4E57-8130-6569F2E2C322}"/>
                </a:ext>
              </a:extLst>
            </p:cNvPr>
            <p:cNvSpPr/>
            <p:nvPr/>
          </p:nvSpPr>
          <p:spPr>
            <a:xfrm>
              <a:off x="3916953" y="2405107"/>
              <a:ext cx="1440000" cy="576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弱监督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（标签缺失与噪声）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D457C02-F486-49B2-BB61-3314E402D2CD}"/>
                </a:ext>
              </a:extLst>
            </p:cNvPr>
            <p:cNvSpPr/>
            <p:nvPr/>
          </p:nvSpPr>
          <p:spPr>
            <a:xfrm>
              <a:off x="5500953" y="2405107"/>
              <a:ext cx="1440000" cy="576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半监督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C611230-C994-40E1-AD64-B9E866698D5F}"/>
                </a:ext>
              </a:extLst>
            </p:cNvPr>
            <p:cNvSpPr/>
            <p:nvPr/>
          </p:nvSpPr>
          <p:spPr>
            <a:xfrm>
              <a:off x="7084953" y="2405107"/>
              <a:ext cx="1440000" cy="576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数据流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07BE335-68FE-4505-8C04-FDA6AB8DEB94}"/>
                </a:ext>
              </a:extLst>
            </p:cNvPr>
            <p:cNvSpPr/>
            <p:nvPr/>
          </p:nvSpPr>
          <p:spPr>
            <a:xfrm>
              <a:off x="2332953" y="3103683"/>
              <a:ext cx="1440000" cy="110142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第二章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基于分类器链和多路提升的多标签学习算法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B034517-9A1B-4375-B617-3AE158E97489}"/>
                </a:ext>
              </a:extLst>
            </p:cNvPr>
            <p:cNvSpPr/>
            <p:nvPr/>
          </p:nvSpPr>
          <p:spPr>
            <a:xfrm>
              <a:off x="3916953" y="3103683"/>
              <a:ext cx="1440000" cy="110142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第三章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基于标签对排序集成的弱监督多标签学习算法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492BF7F-F131-4293-9BF8-46370822A9A9}"/>
                </a:ext>
              </a:extLst>
            </p:cNvPr>
            <p:cNvSpPr/>
            <p:nvPr/>
          </p:nvSpPr>
          <p:spPr>
            <a:xfrm>
              <a:off x="5500953" y="3103683"/>
              <a:ext cx="1440000" cy="110142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第四章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基于协同训练的半监督多标签堆叠学习算法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7FBEFBD-EC61-4404-9B5F-95E394E91603}"/>
                </a:ext>
              </a:extLst>
            </p:cNvPr>
            <p:cNvSpPr/>
            <p:nvPr/>
          </p:nvSpPr>
          <p:spPr>
            <a:xfrm>
              <a:off x="7084953" y="3103683"/>
              <a:ext cx="1440000" cy="110142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第五章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多标签动态选择集成学习算法及其在数据流中的应用</a:t>
              </a:r>
              <a:endParaRPr lang="en-US" altLang="zh-CN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90CD41E-2C90-4392-9517-D624F44F6FD7}"/>
                </a:ext>
              </a:extLst>
            </p:cNvPr>
            <p:cNvSpPr/>
            <p:nvPr/>
          </p:nvSpPr>
          <p:spPr>
            <a:xfrm>
              <a:off x="2190463" y="1469107"/>
              <a:ext cx="6480000" cy="360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第一章 绪论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A24919C-5A53-4985-8554-FF4884B4179E}"/>
                </a:ext>
              </a:extLst>
            </p:cNvPr>
            <p:cNvSpPr/>
            <p:nvPr/>
          </p:nvSpPr>
          <p:spPr>
            <a:xfrm>
              <a:off x="2188953" y="4349107"/>
              <a:ext cx="6480000" cy="360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第六章 总结与展望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9544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82C621-1D92-40DD-A40C-D810EFC7A17C}"/>
              </a:ext>
            </a:extLst>
          </p:cNvPr>
          <p:cNvSpPr txBox="1"/>
          <p:nvPr/>
        </p:nvSpPr>
        <p:spPr>
          <a:xfrm>
            <a:off x="653860" y="1068828"/>
            <a:ext cx="11090666" cy="2336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）已有的多标签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Boosting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方法：计算多标签损失函数值、迭代多标签基学习器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易拟合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的标签，多标签损失不达标，还会继续迭代，存在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过拟合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风险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难拟合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的标签，多标签损失达标后，不会继续迭代，存在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欠拟合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风险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总结来说，就是忽视了标签之间的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差异性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9256FC-A114-4BED-A571-98D35CE9C8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470" y="3482502"/>
            <a:ext cx="5709492" cy="260432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5FBBEC1-D967-4886-ACB0-414BF4C87C0D}"/>
              </a:ext>
            </a:extLst>
          </p:cNvPr>
          <p:cNvSpPr txBox="1"/>
          <p:nvPr/>
        </p:nvSpPr>
        <p:spPr>
          <a:xfrm>
            <a:off x="2206231" y="6187087"/>
            <a:ext cx="31537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已有的多标签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方案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6D0C69-757E-43B2-963F-66DB73FCF05E}"/>
              </a:ext>
            </a:extLst>
          </p:cNvPr>
          <p:cNvSpPr txBox="1"/>
          <p:nvPr/>
        </p:nvSpPr>
        <p:spPr>
          <a:xfrm>
            <a:off x="5554497" y="6187087"/>
            <a:ext cx="31537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理想的多标签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方案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4F04B7-ABE9-4B19-B379-67FD3FC4FD30}"/>
              </a:ext>
            </a:extLst>
          </p:cNvPr>
          <p:cNvSpPr txBox="1"/>
          <p:nvPr/>
        </p:nvSpPr>
        <p:spPr>
          <a:xfrm>
            <a:off x="8708203" y="5683579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2-2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123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982C621-1D92-40DD-A40C-D810EFC7A17C}"/>
                  </a:ext>
                </a:extLst>
              </p:cNvPr>
              <p:cNvSpPr txBox="1"/>
              <p:nvPr/>
            </p:nvSpPr>
            <p:spPr>
              <a:xfrm>
                <a:off x="1526895" y="1104338"/>
                <a:ext cx="9138210" cy="498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）多路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AdaBoost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框架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条件一：已知多标签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Hamming Loss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是全部标签上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Hamming Loss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的平均：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HL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HL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条件二：基本不等式：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结论：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HL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HL</m:t>
                          </m:r>
                        </m:e>
                      </m:func>
                    </m:oMath>
                  </m:oMathPara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982C621-1D92-40DD-A40C-D810EFC7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895" y="1104338"/>
                <a:ext cx="9138210" cy="4980787"/>
              </a:xfrm>
              <a:prstGeom prst="rect">
                <a:avLst/>
              </a:prstGeom>
              <a:blipFill>
                <a:blip r:embed="rId4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095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982C621-1D92-40DD-A40C-D810EFC7A17C}"/>
                  </a:ext>
                </a:extLst>
              </p:cNvPr>
              <p:cNvSpPr txBox="1"/>
              <p:nvPr/>
            </p:nvSpPr>
            <p:spPr>
              <a:xfrm>
                <a:off x="421006" y="1167675"/>
                <a:ext cx="10214443" cy="226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ABC2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算法：多路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AdaBoost+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分类器链基学习器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分类器链（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Classifiers Chain, CC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）：拟合标签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当做特征，学习标签相关性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使用启发式分类器链：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AdaBoost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错误率低的标签放在头部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982C621-1D92-40DD-A40C-D810EFC7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06" y="1167675"/>
                <a:ext cx="10214443" cy="2261325"/>
              </a:xfrm>
              <a:prstGeom prst="rect">
                <a:avLst/>
              </a:prstGeom>
              <a:blipFill>
                <a:blip r:embed="rId4"/>
                <a:stretch>
                  <a:fillRect l="-776" b="-4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13F5B37-4B9D-4D3C-AD18-C899123008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17" y="2838473"/>
            <a:ext cx="2844777" cy="31104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EBEE95-34B7-4A9F-8B18-CD34C78EB92D}"/>
              </a:ext>
            </a:extLst>
          </p:cNvPr>
          <p:cNvSpPr txBox="1"/>
          <p:nvPr/>
        </p:nvSpPr>
        <p:spPr>
          <a:xfrm>
            <a:off x="8926217" y="5948970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212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82C621-1D92-40DD-A40C-D810EFC7A17C}"/>
              </a:ext>
            </a:extLst>
          </p:cNvPr>
          <p:cNvSpPr txBox="1"/>
          <p:nvPr/>
        </p:nvSpPr>
        <p:spPr>
          <a:xfrm>
            <a:off x="653860" y="1068828"/>
            <a:ext cx="11090666" cy="2336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ABC2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优势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多路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AdaBoost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关注标签差异性，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CC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链关注标签相关性，提升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模型性能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不同的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链顺序和长度，增加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基学习器多样性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多路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AdaBoost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倾向于获得更少的迭代轮次，降低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时间复杂度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8893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82C621-1D92-40DD-A40C-D810EFC7A17C}"/>
              </a:ext>
            </a:extLst>
          </p:cNvPr>
          <p:cNvSpPr txBox="1"/>
          <p:nvPr/>
        </p:nvSpPr>
        <p:spPr>
          <a:xfrm>
            <a:off x="653860" y="1068828"/>
            <a:ext cx="11090666" cy="335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）实验设置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数据集：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个，来自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个领域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评价指标：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个，基于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Accuracy</a:t>
            </a:r>
            <a:r>
              <a:rPr lang="zh-CN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F1</a:t>
            </a:r>
            <a:r>
              <a:rPr lang="zh-CN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Hamming Loss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，基于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Coverage</a:t>
            </a:r>
            <a:r>
              <a:rPr lang="zh-CN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Ranking Loss</a:t>
            </a:r>
            <a:r>
              <a:rPr lang="zh-CN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Average Precision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对比算法：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个，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个非集成，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个集成，集成方法使用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Bagging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Boosting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Stacking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等不同框架，包括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等不同基学习器</a:t>
            </a:r>
            <a:endParaRPr lang="en-US" altLang="zh-CN" sz="22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570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82C621-1D92-40DD-A40C-D810EFC7A17C}"/>
              </a:ext>
            </a:extLst>
          </p:cNvPr>
          <p:cNvSpPr txBox="1"/>
          <p:nvPr/>
        </p:nvSpPr>
        <p:spPr>
          <a:xfrm>
            <a:off x="412448" y="936573"/>
            <a:ext cx="3545278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）对比结果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F4246A-5060-482C-987B-4E75CCD2D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985467"/>
              </p:ext>
            </p:extLst>
          </p:nvPr>
        </p:nvGraphicFramePr>
        <p:xfrm>
          <a:off x="588000" y="1581790"/>
          <a:ext cx="11016000" cy="4934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CLML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RAkEL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BOOMER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ACkEL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MLWSE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ABC2</a:t>
                      </a:r>
                      <a:endParaRPr lang="zh-CN" sz="20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0.2315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0.4322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0.4394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0.4238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0.4464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0.3349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0.4950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0.4996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0.4883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0.3697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0.5064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4341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98985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Hamming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0.3815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0.1342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0.1317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0.1585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0.1313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238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74627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Coverage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0.4586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0.5538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0.5283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0.4104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0292"/>
                  </a:ext>
                </a:extLst>
              </a:tr>
              <a:tr h="360594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4.96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95325"/>
                  </a:ext>
                </a:extLst>
              </a:tr>
              <a:tr h="360594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0.2917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0.2334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0.2911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0.4507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0.2764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0.1549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8825"/>
                  </a:ext>
                </a:extLst>
              </a:tr>
              <a:tr h="360594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80824"/>
                  </a:ext>
                </a:extLst>
              </a:tr>
              <a:tr h="360594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Average Precision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0.5552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0.5966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0.6069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0.5519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0.6584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60594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189F7FB-DAC0-41C2-A891-4245F54BDD4E}"/>
              </a:ext>
            </a:extLst>
          </p:cNvPr>
          <p:cNvSpPr txBox="1"/>
          <p:nvPr/>
        </p:nvSpPr>
        <p:spPr>
          <a:xfrm>
            <a:off x="2841582" y="1109569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2-4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2-9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99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605516-205D-4CA3-A1DC-18EF444142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147" y="921686"/>
            <a:ext cx="7434114" cy="368238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基于分类器链和多路提升的多标签学习算法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82C621-1D92-40DD-A40C-D810EFC7A17C}"/>
              </a:ext>
            </a:extLst>
          </p:cNvPr>
          <p:cNvSpPr txBox="1"/>
          <p:nvPr/>
        </p:nvSpPr>
        <p:spPr>
          <a:xfrm>
            <a:off x="344354" y="1034589"/>
            <a:ext cx="430379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）时间复杂度对比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对比算法：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AdaBoost.MH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损失函数均为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Hamming Loss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均使用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AdaBoost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迭代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3EBA06D-ADAE-4259-89CB-AAD0B3502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68523"/>
              </p:ext>
            </p:extLst>
          </p:nvPr>
        </p:nvGraphicFramePr>
        <p:xfrm>
          <a:off x="344354" y="4678725"/>
          <a:ext cx="8607587" cy="1931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7330">
                  <a:extLst>
                    <a:ext uri="{9D8B030D-6E8A-4147-A177-3AD203B41FA5}">
                      <a16:colId xmlns:a16="http://schemas.microsoft.com/office/drawing/2014/main" val="3175064006"/>
                    </a:ext>
                  </a:extLst>
                </a:gridCol>
                <a:gridCol w="985187">
                  <a:extLst>
                    <a:ext uri="{9D8B030D-6E8A-4147-A177-3AD203B41FA5}">
                      <a16:colId xmlns:a16="http://schemas.microsoft.com/office/drawing/2014/main" val="1710590798"/>
                    </a:ext>
                  </a:extLst>
                </a:gridCol>
                <a:gridCol w="986174">
                  <a:extLst>
                    <a:ext uri="{9D8B030D-6E8A-4147-A177-3AD203B41FA5}">
                      <a16:colId xmlns:a16="http://schemas.microsoft.com/office/drawing/2014/main" val="3254086403"/>
                    </a:ext>
                  </a:extLst>
                </a:gridCol>
                <a:gridCol w="985187">
                  <a:extLst>
                    <a:ext uri="{9D8B030D-6E8A-4147-A177-3AD203B41FA5}">
                      <a16:colId xmlns:a16="http://schemas.microsoft.com/office/drawing/2014/main" val="3324373402"/>
                    </a:ext>
                  </a:extLst>
                </a:gridCol>
                <a:gridCol w="986174">
                  <a:extLst>
                    <a:ext uri="{9D8B030D-6E8A-4147-A177-3AD203B41FA5}">
                      <a16:colId xmlns:a16="http://schemas.microsoft.com/office/drawing/2014/main" val="1827205207"/>
                    </a:ext>
                  </a:extLst>
                </a:gridCol>
                <a:gridCol w="985187">
                  <a:extLst>
                    <a:ext uri="{9D8B030D-6E8A-4147-A177-3AD203B41FA5}">
                      <a16:colId xmlns:a16="http://schemas.microsoft.com/office/drawing/2014/main" val="3587764679"/>
                    </a:ext>
                  </a:extLst>
                </a:gridCol>
                <a:gridCol w="986174">
                  <a:extLst>
                    <a:ext uri="{9D8B030D-6E8A-4147-A177-3AD203B41FA5}">
                      <a16:colId xmlns:a16="http://schemas.microsoft.com/office/drawing/2014/main" val="367665406"/>
                    </a:ext>
                  </a:extLst>
                </a:gridCol>
                <a:gridCol w="986174">
                  <a:extLst>
                    <a:ext uri="{9D8B030D-6E8A-4147-A177-3AD203B41FA5}">
                      <a16:colId xmlns:a16="http://schemas.microsoft.com/office/drawing/2014/main" val="3951125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#3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#5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#6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086103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AdaBoost.MH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6.8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5.8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54712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1.1579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2.1333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1.0027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4.8667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2.72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1.4427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272345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#8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#9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#10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#11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#13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#14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07988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AdaBoost.MH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6.6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8.8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25132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1.0297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1.0017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3.4364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3.8857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2.3714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8.2</a:t>
                      </a:r>
                      <a:endParaRPr lang="zh-CN" altLang="en-US" sz="1600" b="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23209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93E655E-FC64-4351-B2A8-838096E61C56}"/>
              </a:ext>
            </a:extLst>
          </p:cNvPr>
          <p:cNvSpPr txBox="1"/>
          <p:nvPr/>
        </p:nvSpPr>
        <p:spPr>
          <a:xfrm>
            <a:off x="344354" y="4200816"/>
            <a:ext cx="2077833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迭代轮次对比↓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2FD4AA-F60E-4A79-9311-8A13301460BE}"/>
              </a:ext>
            </a:extLst>
          </p:cNvPr>
          <p:cNvSpPr txBox="1"/>
          <p:nvPr/>
        </p:nvSpPr>
        <p:spPr>
          <a:xfrm>
            <a:off x="2496251" y="3581812"/>
            <a:ext cx="2077833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运行时间对比→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8C2A78-2B51-4403-82EA-F7C6BBD07FEA}"/>
              </a:ext>
            </a:extLst>
          </p:cNvPr>
          <p:cNvSpPr txBox="1"/>
          <p:nvPr/>
        </p:nvSpPr>
        <p:spPr>
          <a:xfrm>
            <a:off x="9169485" y="4611762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2-5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E4BDBB-F922-4750-AAB7-282817A8046F}"/>
              </a:ext>
            </a:extLst>
          </p:cNvPr>
          <p:cNvSpPr txBox="1"/>
          <p:nvPr/>
        </p:nvSpPr>
        <p:spPr>
          <a:xfrm>
            <a:off x="8825132" y="5936314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2-10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287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</a:t>
            </a:r>
            <a:r>
              <a:rPr lang="zh-CN" altLang="en-US" sz="36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弱监督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/>
              <p:nvPr/>
            </p:nvSpPr>
            <p:spPr>
              <a:xfrm>
                <a:off x="295890" y="1061465"/>
                <a:ext cx="11776135" cy="5383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）已有的弱监督（标签缺陷）多标签学习方法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标签缺失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MLML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Multi-label Learning with Missing Labels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矩阵低秩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假设常用于数据恢复，但一般情况下，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假设难以成立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标签噪声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（例如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PML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Partial Multi-label Learning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矩阵分解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技术常用于识别噪声，但该方法并不针对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假阳性噪声</a:t>
                </a:r>
                <a:endParaRPr lang="en-US" altLang="zh-CN" sz="2200" b="1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MLML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PML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中，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矩阵低秩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200" b="1">
                    <a:solidFill>
                      <a:srgbClr val="1557AE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拉普拉斯正则化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常用于标签相关性学习，但矩阵低秩假定标签向量的线性相关性、拉普拉斯正则化假定相似性即相关性（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假设难以成立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总的来说，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缺乏针对性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的标签缺陷、相关性处理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一个算法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只能处理一种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标签缺陷：缺失或噪声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需要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大量超参数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连接损失函数和各种罚项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0" y="1061465"/>
                <a:ext cx="11776135" cy="5383397"/>
              </a:xfrm>
              <a:prstGeom prst="rect">
                <a:avLst/>
              </a:prstGeom>
              <a:blipFill>
                <a:blip r:embed="rId4"/>
                <a:stretch>
                  <a:fillRect l="-829" r="-570" b="-1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96560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/>
              <p:nvPr/>
            </p:nvSpPr>
            <p:spPr>
              <a:xfrm>
                <a:off x="286163" y="1227083"/>
                <a:ext cx="11532944" cy="440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HEPR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算法设计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原理：基于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标签对排序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的假设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对于缺失标签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，不确定它类别是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Positive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还是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Negative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，但确定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zh-CN" altLang="zh-CN" sz="220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PML(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假阳性噪声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，同理有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sz="220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NML(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噪声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，同理有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sub>
                        </m:sSub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问题转换：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标签的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多标签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zh-CN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altLang="zh-CN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CN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二分类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问题（每个标签对的对比排序，用一个二分类算法解决）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3" y="1227083"/>
                <a:ext cx="11532944" cy="4403834"/>
              </a:xfrm>
              <a:prstGeom prst="rect">
                <a:avLst/>
              </a:prstGeom>
              <a:blipFill>
                <a:blip r:embed="rId4"/>
                <a:stretch>
                  <a:fillRect l="-846" r="-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0699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/>
              <p:nvPr/>
            </p:nvSpPr>
            <p:spPr>
              <a:xfrm>
                <a:off x="286163" y="1227083"/>
                <a:ext cx="11532944" cy="518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HEPR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模型剪枝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基学习器数量剪枝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剪枝前：全部标签对，相当于标签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全连接图</a:t>
                </a:r>
                <a:endParaRPr lang="en-US" altLang="zh-CN" sz="2200" b="1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剪枝后：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最小生成树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，只包含最具排序价值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联合熵</a:t>
                </a: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的标签对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训练实例数量剪枝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剪枝前：全部实例加入训练集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剪枝后：实例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的正类度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的正类度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zh-CN" altLang="en-US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，显然该实例的该标签对很有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排序价值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，但如果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，则完全没有价值。因此建议设立一个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标签排序可信度阈值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过滤掉低价值实例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37DC43-A247-44A3-972D-F34EFF3EE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3" y="1227083"/>
                <a:ext cx="11532944" cy="5188215"/>
              </a:xfrm>
              <a:prstGeom prst="rect">
                <a:avLst/>
              </a:prstGeom>
              <a:blipFill>
                <a:blip r:embed="rId4"/>
                <a:stretch>
                  <a:fillRect l="-846" b="-1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EA9AC19-76CF-4D64-AAB3-8A2E96339B9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147" y="1299288"/>
            <a:ext cx="1879736" cy="15963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6D4A94-8740-4B15-A03B-1B156AC18CA6}"/>
              </a:ext>
            </a:extLst>
          </p:cNvPr>
          <p:cNvSpPr txBox="1"/>
          <p:nvPr/>
        </p:nvSpPr>
        <p:spPr>
          <a:xfrm>
            <a:off x="9587883" y="1694215"/>
            <a:ext cx="16722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结点：标签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4DEBB7-661D-4E77-80E1-0D5EB89C9BAD}"/>
              </a:ext>
            </a:extLst>
          </p:cNvPr>
          <p:cNvSpPr txBox="1"/>
          <p:nvPr/>
        </p:nvSpPr>
        <p:spPr>
          <a:xfrm>
            <a:off x="9278644" y="2120267"/>
            <a:ext cx="16722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边：标签对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99535F-0B51-4AC3-9E3F-D2E52EF3E4B8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291" y="2918446"/>
            <a:ext cx="1879736" cy="1596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483A17C-F3F6-4469-994E-E2EB9BEB70F9}"/>
              </a:ext>
            </a:extLst>
          </p:cNvPr>
          <p:cNvSpPr txBox="1"/>
          <p:nvPr/>
        </p:nvSpPr>
        <p:spPr>
          <a:xfrm>
            <a:off x="10654967" y="3619564"/>
            <a:ext cx="1250870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剪枝后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17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37DC43-A247-44A3-972D-F34EFF3EE120}"/>
              </a:ext>
            </a:extLst>
          </p:cNvPr>
          <p:cNvSpPr txBox="1"/>
          <p:nvPr/>
        </p:nvSpPr>
        <p:spPr>
          <a:xfrm>
            <a:off x="325074" y="955920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种弱监督场景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67E8C6F-E050-43F0-A8F3-0F565BE4F5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445528"/>
                  </p:ext>
                </p:extLst>
              </p:nvPr>
            </p:nvGraphicFramePr>
            <p:xfrm>
              <a:off x="567161" y="2126375"/>
              <a:ext cx="10893125" cy="34223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812091715"/>
                        </a:ext>
                      </a:extLst>
                    </a:gridCol>
                    <a:gridCol w="1745166">
                      <a:extLst>
                        <a:ext uri="{9D8B030D-6E8A-4147-A177-3AD203B41FA5}">
                          <a16:colId xmlns:a16="http://schemas.microsoft.com/office/drawing/2014/main" val="2638838405"/>
                        </a:ext>
                      </a:extLst>
                    </a:gridCol>
                    <a:gridCol w="1437521">
                      <a:extLst>
                        <a:ext uri="{9D8B030D-6E8A-4147-A177-3AD203B41FA5}">
                          <a16:colId xmlns:a16="http://schemas.microsoft.com/office/drawing/2014/main" val="967424714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547852875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928732931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2598128833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424367432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417373514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412336641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GLOCAL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DM2L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LRMML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SMDkM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2SML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HEPR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7503566"/>
                      </a:ext>
                    </a:extLst>
                  </a:tr>
                  <a:tr h="360000">
                    <a:tc rowSpan="4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1900" b="0" i="1" kern="1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=0.3</m:t>
                                </m:r>
                              </m:oMath>
                            </m:oMathPara>
                          </a14:m>
                          <a:endParaRPr lang="zh-CN" sz="1900" b="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Accuracy</a:t>
                          </a:r>
                          <a:endParaRPr 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0.3519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0.0726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0.3300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0.3494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0.2314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0.4003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1931801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2.93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5.61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2.07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3486034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altLang="zh-CN" sz="19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Ranking Loss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0.1926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0.2556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0.1966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0.2043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0.3317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0.1529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143413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3.79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4.00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4.71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1.93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4898985"/>
                      </a:ext>
                    </a:extLst>
                  </a:tr>
                  <a:tr h="360594">
                    <a:tc rowSpan="4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900" b="0" i="1" kern="10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1900" b="0" i="1" kern="1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=0.7</m:t>
                                </m:r>
                              </m:oMath>
                            </m:oMathPara>
                          </a14:m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Accuracy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0.3322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0.0727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0.2811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0.3313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0.2295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0.3902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058825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2.71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5.68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3.46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2.50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4.43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2.21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2980824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altLang="zh-CN" sz="19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Ranking Loss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0.2875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0.2340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0.2157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0.4332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0.2115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809597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3.54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3.86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3.36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4.36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61034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67E8C6F-E050-43F0-A8F3-0F565BE4F5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445528"/>
                  </p:ext>
                </p:extLst>
              </p:nvPr>
            </p:nvGraphicFramePr>
            <p:xfrm>
              <a:off x="567161" y="2126375"/>
              <a:ext cx="10893125" cy="34223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812091715"/>
                        </a:ext>
                      </a:extLst>
                    </a:gridCol>
                    <a:gridCol w="1745166">
                      <a:extLst>
                        <a:ext uri="{9D8B030D-6E8A-4147-A177-3AD203B41FA5}">
                          <a16:colId xmlns:a16="http://schemas.microsoft.com/office/drawing/2014/main" val="2638838405"/>
                        </a:ext>
                      </a:extLst>
                    </a:gridCol>
                    <a:gridCol w="1437521">
                      <a:extLst>
                        <a:ext uri="{9D8B030D-6E8A-4147-A177-3AD203B41FA5}">
                          <a16:colId xmlns:a16="http://schemas.microsoft.com/office/drawing/2014/main" val="967424714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547852875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928732931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2598128833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424367432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3417373514"/>
                        </a:ext>
                      </a:extLst>
                    </a:gridCol>
                    <a:gridCol w="1123073">
                      <a:extLst>
                        <a:ext uri="{9D8B030D-6E8A-4147-A177-3AD203B41FA5}">
                          <a16:colId xmlns:a16="http://schemas.microsoft.com/office/drawing/2014/main" val="412336641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GLOCAL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DM2L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LRMML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SMDkM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2SML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HEPR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7503566"/>
                      </a:ext>
                    </a:extLst>
                  </a:tr>
                  <a:tr h="360000">
                    <a:tc row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8397" r="-1025786" b="-10928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Accuracy</a:t>
                          </a:r>
                          <a:endParaRPr 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0.3519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0.0726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0.3300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0.3494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0.2314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0.4003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1931801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2.93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5.61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2.07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3486034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altLang="zh-CN" sz="19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Ranking Loss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0.1926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0.2556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0.1966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0.2043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0.3317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0.1529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5143413"/>
                      </a:ext>
                    </a:extLst>
                  </a:tr>
                  <a:tr h="36000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3.79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3.29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4.00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4.71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1.93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4898985"/>
                      </a:ext>
                    </a:extLst>
                  </a:tr>
                  <a:tr h="360594">
                    <a:tc row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8397" r="-1025786" b="-928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Accuracy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0.3322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0.0727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0.2811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0.3313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0.2295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0.3902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058825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2.71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5.68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3.46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2.50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4.43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2.21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2980824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zh-CN" altLang="zh-CN" sz="19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CN" sz="1900" b="1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Ranking Loss</a:t>
                          </a:r>
                          <a:endParaRPr lang="zh-CN" altLang="zh-CN" sz="1900" b="1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均值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0.2311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0.2875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0.2340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0.2157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0.4332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0.2115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0809597"/>
                      </a:ext>
                    </a:extLst>
                  </a:tr>
                  <a:tr h="360594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1800" kern="1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平均排名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3.54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3.86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3.36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3.25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4.36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altLang="zh-CN" sz="1800" b="1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2.64</a:t>
                          </a:r>
                        </a:p>
                      </a:txBody>
                      <a:tcPr marL="7620" marR="7620" marT="762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61034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83F9020-5B85-40A0-A4B0-EECC2C14D086}"/>
              </a:ext>
            </a:extLst>
          </p:cNvPr>
          <p:cNvSpPr txBox="1"/>
          <p:nvPr/>
        </p:nvSpPr>
        <p:spPr>
          <a:xfrm>
            <a:off x="4436870" y="1684211"/>
            <a:ext cx="31537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MLML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场景（两种缺失率）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BAF777-8AC2-46A5-866D-380D4C8A8643}"/>
              </a:ext>
            </a:extLst>
          </p:cNvPr>
          <p:cNvSpPr txBox="1"/>
          <p:nvPr/>
        </p:nvSpPr>
        <p:spPr>
          <a:xfrm>
            <a:off x="7208668" y="5587663"/>
            <a:ext cx="4758431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3-2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3-6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3-8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3-12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7302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37DC43-A247-44A3-972D-F34EFF3EE120}"/>
              </a:ext>
            </a:extLst>
          </p:cNvPr>
          <p:cNvSpPr txBox="1"/>
          <p:nvPr/>
        </p:nvSpPr>
        <p:spPr>
          <a:xfrm>
            <a:off x="325074" y="955920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种弱监督场景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83F9020-5B85-40A0-A4B0-EECC2C14D086}"/>
                  </a:ext>
                </a:extLst>
              </p:cNvPr>
              <p:cNvSpPr txBox="1"/>
              <p:nvPr/>
            </p:nvSpPr>
            <p:spPr>
              <a:xfrm>
                <a:off x="4436869" y="1664755"/>
                <a:ext cx="3471717" cy="448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altLang="zh-CN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PML</a:t>
                </a:r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场景（噪声率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=0.3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83F9020-5B85-40A0-A4B0-EECC2C14D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69" y="1664755"/>
                <a:ext cx="3471717" cy="448392"/>
              </a:xfrm>
              <a:prstGeom prst="rect">
                <a:avLst/>
              </a:prstGeom>
              <a:blipFill>
                <a:blip r:embed="rId4"/>
                <a:stretch>
                  <a:fillRect l="-527" t="-5405" r="-351" b="-175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FCFF345-8027-4F95-847F-85561C858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93113"/>
              </p:ext>
            </p:extLst>
          </p:nvPr>
        </p:nvGraphicFramePr>
        <p:xfrm>
          <a:off x="695120" y="2087463"/>
          <a:ext cx="10800000" cy="1873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HALE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PARTICLE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NATAL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PMLNI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PAMB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HEPR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0.2146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0.2909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0.2230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0.1349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60594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alt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0.6253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0.2317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0.4237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0.2190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0.6458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0.1955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60594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39EBEDB-4A5C-4CD5-9E8F-9965B79C424F}"/>
                  </a:ext>
                </a:extLst>
              </p:cNvPr>
              <p:cNvSpPr txBox="1"/>
              <p:nvPr/>
            </p:nvSpPr>
            <p:spPr>
              <a:xfrm>
                <a:off x="4437749" y="4160107"/>
                <a:ext cx="3471717" cy="40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altLang="zh-CN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NML</a:t>
                </a:r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场景（噪声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=0.3 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39EBEDB-4A5C-4CD5-9E8F-9965B79C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749" y="4160107"/>
                <a:ext cx="3471717" cy="403252"/>
              </a:xfrm>
              <a:prstGeom prst="rect">
                <a:avLst/>
              </a:prstGeom>
              <a:blipFill>
                <a:blip r:embed="rId5"/>
                <a:stretch>
                  <a:fillRect t="-10448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466FD27-306C-4318-8219-5C14158F7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47975"/>
              </p:ext>
            </p:extLst>
          </p:nvPr>
        </p:nvGraphicFramePr>
        <p:xfrm>
          <a:off x="696000" y="4582815"/>
          <a:ext cx="10800000" cy="18371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RAkEL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BOOMER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ACkEL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MLWSE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ABC2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HEPR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0.3153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0.2230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0.2306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0.2466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0.3515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60594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alt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0.6999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0.3644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0.4237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0.2793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0.1737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0.1541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60594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3400712-065F-4165-8D22-E0E658CB1476}"/>
              </a:ext>
            </a:extLst>
          </p:cNvPr>
          <p:cNvSpPr txBox="1"/>
          <p:nvPr/>
        </p:nvSpPr>
        <p:spPr>
          <a:xfrm>
            <a:off x="8240811" y="1709895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3-14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3-18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D7856D-D55D-4736-AFBC-115BEEED4CE5}"/>
              </a:ext>
            </a:extLst>
          </p:cNvPr>
          <p:cNvSpPr txBox="1"/>
          <p:nvPr/>
        </p:nvSpPr>
        <p:spPr>
          <a:xfrm>
            <a:off x="8240811" y="4181733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3-20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3-24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384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37DC43-A247-44A3-972D-F34EFF3EE120}"/>
              </a:ext>
            </a:extLst>
          </p:cNvPr>
          <p:cNvSpPr txBox="1"/>
          <p:nvPr/>
        </p:nvSpPr>
        <p:spPr>
          <a:xfrm>
            <a:off x="329528" y="1018283"/>
            <a:ext cx="11532944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）模型鲁棒性分析：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HEPR vs.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对比算法，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MLML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缺失率从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0.9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338C4E-8E8E-45BE-BD20-F0BE4BB2B5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69" y="1637860"/>
            <a:ext cx="9519822" cy="46935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C7E3A2-9962-4160-81A0-B5802A69EFC3}"/>
              </a:ext>
            </a:extLst>
          </p:cNvPr>
          <p:cNvSpPr txBox="1"/>
          <p:nvPr/>
        </p:nvSpPr>
        <p:spPr>
          <a:xfrm>
            <a:off x="6985578" y="6279612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3-4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463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基于标签对排序集成的弱监督多标签学习算法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37DC43-A247-44A3-972D-F34EFF3EE120}"/>
              </a:ext>
            </a:extLst>
          </p:cNvPr>
          <p:cNvSpPr txBox="1"/>
          <p:nvPr/>
        </p:nvSpPr>
        <p:spPr>
          <a:xfrm>
            <a:off x="329528" y="868418"/>
            <a:ext cx="11532944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）运行时间对比：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HEPR vs. NML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集成学习算法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501DB3-B6CF-44F8-884A-A0C426AD1F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09" y="1471592"/>
            <a:ext cx="10326762" cy="51152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380851-0EA8-4FB3-A79C-43A8FD4C86FF}"/>
              </a:ext>
            </a:extLst>
          </p:cNvPr>
          <p:cNvSpPr txBox="1"/>
          <p:nvPr/>
        </p:nvSpPr>
        <p:spPr>
          <a:xfrm>
            <a:off x="8477027" y="1128024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3-5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981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</a:t>
            </a:r>
            <a:r>
              <a:rPr lang="zh-CN" altLang="en-US" sz="36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半监督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多标签堆叠学习算法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0D916C-2455-4FFD-9FD8-B190DC903FD1}"/>
              </a:ext>
            </a:extLst>
          </p:cNvPr>
          <p:cNvSpPr txBox="1"/>
          <p:nvPr/>
        </p:nvSpPr>
        <p:spPr>
          <a:xfrm>
            <a:off x="146893" y="1438591"/>
            <a:ext cx="11776135" cy="3505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）已有的半监督多标签学习方法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将半监督学习策略应用到多标签学习中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伪标签方法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：伪标签质量难以保证、需要多次迭代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基于图的方法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：在未知实例到来后才能建模、使用大量超参数连接损失函数和各种罚项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总的来说，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单一</a:t>
            </a:r>
            <a:r>
              <a:rPr lang="zh-CN" altLang="en-US" sz="22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的半监督学习策略难以适应复杂的半监督多标签学习</a:t>
            </a:r>
            <a:endParaRPr lang="en-US" altLang="zh-CN" sz="22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已有的集成方法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：很少，且也没有结合多种半监督学习策略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4604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0D916C-2455-4FFD-9FD8-B190DC903FD1}"/>
              </a:ext>
            </a:extLst>
          </p:cNvPr>
          <p:cNvSpPr txBox="1"/>
          <p:nvPr/>
        </p:nvSpPr>
        <p:spPr>
          <a:xfrm>
            <a:off x="146893" y="1438591"/>
            <a:ext cx="11776135" cy="2844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算法结构：基于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Stacking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的双层学习器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初始基学习器：在原始特征集的三个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子视图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上分别训练</a:t>
            </a: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分类器链</a:t>
            </a:r>
            <a:endParaRPr lang="en-US" altLang="zh-CN" sz="2200" b="1">
              <a:solidFill>
                <a:srgbClr val="1557A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增强基学习器：基于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协同训练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，利用初始基学习器在无标签数据上标注数据并训练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元学习器：基于回归的优化模型，使用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基于图的方法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利用无标签实例和</a:t>
            </a:r>
            <a:r>
              <a:rPr lang="zh-CN" altLang="en-US" sz="2200" b="1">
                <a:solidFill>
                  <a:srgbClr val="1557A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学习相关性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，且使用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聚类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将实例划分为若干簇分别建立实例图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4678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0D916C-2455-4FFD-9FD8-B190DC903FD1}"/>
              </a:ext>
            </a:extLst>
          </p:cNvPr>
          <p:cNvSpPr txBox="1"/>
          <p:nvPr/>
        </p:nvSpPr>
        <p:spPr>
          <a:xfrm>
            <a:off x="516544" y="1438591"/>
            <a:ext cx="10495167" cy="2336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的模型减负机制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多视图学习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增强学习器仅使用伪标签训练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只进行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一次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协同训练迭代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4600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D5DBAC-F21C-47E4-9881-A1E39A314738}"/>
              </a:ext>
            </a:extLst>
          </p:cNvPr>
          <p:cNvSpPr txBox="1"/>
          <p:nvPr/>
        </p:nvSpPr>
        <p:spPr>
          <a:xfrm>
            <a:off x="292559" y="921686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种数据标注比例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0F1434-FB43-4FBD-9A8E-0450A69A0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46627"/>
              </p:ext>
            </p:extLst>
          </p:nvPr>
        </p:nvGraphicFramePr>
        <p:xfrm>
          <a:off x="653860" y="1583897"/>
          <a:ext cx="11016000" cy="4528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MLWSE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TLRR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MRRW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SSKC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SMCT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SCTM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0.3023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0.1312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0.1808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0.3428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0.1998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0.3659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0.2580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0.4010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0.3016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4341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9898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Hamming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0.2034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0.6891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0.1913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0.8002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23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1.89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5.54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7462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Coverage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0.5611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0.8252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0.6452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0.6261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0.4824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0292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9532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0.6623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0.4044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0.2699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0.2268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882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8082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Average Precision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0.5241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0.2946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0.4278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0.4820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0.5399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0.5967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8255CE1-A873-4721-AE03-E1931ED817DA}"/>
              </a:ext>
            </a:extLst>
          </p:cNvPr>
          <p:cNvSpPr txBox="1"/>
          <p:nvPr/>
        </p:nvSpPr>
        <p:spPr>
          <a:xfrm>
            <a:off x="588000" y="6165521"/>
            <a:ext cx="7970801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标注比例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（有标签数据和无标签数据的比例为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1:1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70FFB4-5ACC-497F-B080-1E74CC7397DF}"/>
              </a:ext>
            </a:extLst>
          </p:cNvPr>
          <p:cNvSpPr txBox="1"/>
          <p:nvPr/>
        </p:nvSpPr>
        <p:spPr>
          <a:xfrm>
            <a:off x="8558801" y="6111961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4-2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4-7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81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D5DBAC-F21C-47E4-9881-A1E39A314738}"/>
              </a:ext>
            </a:extLst>
          </p:cNvPr>
          <p:cNvSpPr txBox="1"/>
          <p:nvPr/>
        </p:nvSpPr>
        <p:spPr>
          <a:xfrm>
            <a:off x="292559" y="921686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种数据标注比例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255CE1-A873-4721-AE03-E1931ED817DA}"/>
              </a:ext>
            </a:extLst>
          </p:cNvPr>
          <p:cNvSpPr txBox="1"/>
          <p:nvPr/>
        </p:nvSpPr>
        <p:spPr>
          <a:xfrm>
            <a:off x="653860" y="6187087"/>
            <a:ext cx="7904941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标注比例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20%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（有标签数据和无标签数据的比例为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1:4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9D7EFEA-D4CF-40B7-8CDE-344F30CB5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00021"/>
              </p:ext>
            </p:extLst>
          </p:nvPr>
        </p:nvGraphicFramePr>
        <p:xfrm>
          <a:off x="653860" y="1583897"/>
          <a:ext cx="11016000" cy="4528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MLWSE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TLRR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MRRW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SSKC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SMCT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SCTM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0.2533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0.1674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0.1808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0.1998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0.2722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0.2579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0.3132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0.3016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0.3297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4341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9898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Hamming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0.2480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0.7445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0.6891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0.2353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0.8002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0.2382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23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5.68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1.79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7462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Coverage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0.6156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0.7872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0.6928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0.6787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0.7204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0.5692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0292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9532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0.3765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0.5732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0.4716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0.4372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0.3825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0.3292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882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8082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Average Precision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0.4399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0.3425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0.4166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0.4471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0.4950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7358F565-EBDA-4E53-B6E5-9017B8F3C4D2}"/>
              </a:ext>
            </a:extLst>
          </p:cNvPr>
          <p:cNvSpPr txBox="1"/>
          <p:nvPr/>
        </p:nvSpPr>
        <p:spPr>
          <a:xfrm>
            <a:off x="8558801" y="6111961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4-8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4-13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9617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1395897-FE36-47FE-B005-17FF504969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800000"/>
            <a:ext cx="9448137" cy="468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D5DBAC-F21C-47E4-9881-A1E39A314738}"/>
              </a:ext>
            </a:extLst>
          </p:cNvPr>
          <p:cNvSpPr txBox="1"/>
          <p:nvPr/>
        </p:nvSpPr>
        <p:spPr>
          <a:xfrm>
            <a:off x="295891" y="1093026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）运行时间对比（</a:t>
            </a:r>
            <a:r>
              <a:rPr lang="zh-CN" altLang="en-US" sz="2400" b="1" u="sng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数据标注比例</a:t>
            </a:r>
            <a:r>
              <a:rPr lang="en-US" altLang="zh-CN" sz="2400" b="1" u="sng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ED0889-E711-4A61-ACDA-607DFB1A9639}"/>
              </a:ext>
            </a:extLst>
          </p:cNvPr>
          <p:cNvSpPr txBox="1"/>
          <p:nvPr/>
        </p:nvSpPr>
        <p:spPr>
          <a:xfrm>
            <a:off x="8334984" y="1381150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4-4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784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基于协同训练的半监督多标签堆叠学习算法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D5DBAC-F21C-47E4-9881-A1E39A314738}"/>
              </a:ext>
            </a:extLst>
          </p:cNvPr>
          <p:cNvSpPr txBox="1"/>
          <p:nvPr/>
        </p:nvSpPr>
        <p:spPr>
          <a:xfrm>
            <a:off x="295891" y="1093026"/>
            <a:ext cx="11377301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）运行时间对比（</a:t>
            </a:r>
            <a:r>
              <a:rPr lang="zh-CN" altLang="en-US" sz="2400" b="1" u="sng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数据标注比例</a:t>
            </a:r>
            <a:r>
              <a:rPr lang="en-US" altLang="zh-CN" sz="2400" b="1" u="sng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5D673C-9CC3-4C83-9BFE-7DB3F693CC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800000"/>
            <a:ext cx="9448137" cy="468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6AA330E-433C-4A49-888A-C911BF3234F2}"/>
              </a:ext>
            </a:extLst>
          </p:cNvPr>
          <p:cNvSpPr txBox="1"/>
          <p:nvPr/>
        </p:nvSpPr>
        <p:spPr>
          <a:xfrm>
            <a:off x="8334984" y="1381150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4-5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0072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</a:t>
            </a:r>
            <a:r>
              <a:rPr lang="zh-CN" altLang="en-US" sz="36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数据流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574911" y="1306407"/>
            <a:ext cx="10514622" cy="2259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）已有的多标签集成学习方法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未考虑未知实例之间的差异性，是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静态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的：为所有未知实例提供同一套模型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已有的多标签动态集成算法，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未针对多标签学习进行设计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：仅将基学习器动态选择方法应用到多标签基学习器的选择，或根本没有使用动态选择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555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584639" y="1179988"/>
            <a:ext cx="10514622" cy="1751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MLDE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的模型设计：评估基学习器性能的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个方面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每个标签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的分类能力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2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全体标签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的排序能力</a:t>
            </a:r>
            <a:endParaRPr lang="en-US" altLang="zh-CN" sz="2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1B44BFF-E5AB-4FF0-BF57-049A20BF13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2395018"/>
                  </p:ext>
                </p:extLst>
              </p:nvPr>
            </p:nvGraphicFramePr>
            <p:xfrm>
              <a:off x="2120631" y="3197617"/>
              <a:ext cx="7023371" cy="24221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0428">
                      <a:extLst>
                        <a:ext uri="{9D8B030D-6E8A-4147-A177-3AD203B41FA5}">
                          <a16:colId xmlns:a16="http://schemas.microsoft.com/office/drawing/2014/main" val="2260045161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2237175566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4240608940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2087300477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1206325630"/>
                        </a:ext>
                      </a:extLst>
                    </a:gridCol>
                    <a:gridCol w="1171231">
                      <a:extLst>
                        <a:ext uri="{9D8B030D-6E8A-4147-A177-3AD203B41FA5}">
                          <a16:colId xmlns:a16="http://schemas.microsoft.com/office/drawing/2014/main" val="3134896417"/>
                        </a:ext>
                      </a:extLst>
                    </a:gridCol>
                  </a:tblGrid>
                  <a:tr h="2846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HL</m:t>
                                </m:r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RL</m:t>
                                </m:r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4381347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真值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9849682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2716910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2546493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5947110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0946431"/>
                      </a:ext>
                    </a:extLst>
                  </a:tr>
                  <a:tr h="36861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30788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1B44BFF-E5AB-4FF0-BF57-049A20BF13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2395018"/>
                  </p:ext>
                </p:extLst>
              </p:nvPr>
            </p:nvGraphicFramePr>
            <p:xfrm>
              <a:off x="2120631" y="3197617"/>
              <a:ext cx="7023371" cy="24221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0428">
                      <a:extLst>
                        <a:ext uri="{9D8B030D-6E8A-4147-A177-3AD203B41FA5}">
                          <a16:colId xmlns:a16="http://schemas.microsoft.com/office/drawing/2014/main" val="2260045161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2237175566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4240608940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2087300477"/>
                        </a:ext>
                      </a:extLst>
                    </a:gridCol>
                    <a:gridCol w="1170428">
                      <a:extLst>
                        <a:ext uri="{9D8B030D-6E8A-4147-A177-3AD203B41FA5}">
                          <a16:colId xmlns:a16="http://schemas.microsoft.com/office/drawing/2014/main" val="1206325630"/>
                        </a:ext>
                      </a:extLst>
                    </a:gridCol>
                    <a:gridCol w="1171231">
                      <a:extLst>
                        <a:ext uri="{9D8B030D-6E8A-4147-A177-3AD203B41FA5}">
                          <a16:colId xmlns:a16="http://schemas.microsoft.com/office/drawing/2014/main" val="3134896417"/>
                        </a:ext>
                      </a:extLst>
                    </a:gridCol>
                  </a:tblGrid>
                  <a:tr h="2846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255" r="-400000" b="-78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42" t="-4255" r="-302083" b="-78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42" t="-4255" r="-202083" b="-78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8964" t="-4255" r="-101036" b="-78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563" t="-4255" r="-1563" b="-780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381347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真值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9849682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521" t="-184483" r="-502604" b="-4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2716910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21" t="-284483" r="-502604" b="-3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2546493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21" t="-384483" r="-502604" b="-2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5947110"/>
                      </a:ext>
                    </a:extLst>
                  </a:tr>
                  <a:tr h="353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21" t="-484483" r="-502604" b="-1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0946431"/>
                      </a:ext>
                    </a:extLst>
                  </a:tr>
                  <a:tr h="3686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1" t="-555738" r="-502604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8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0.33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kern="1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800" b="1" kern="100">
                            <a:solidFill>
                              <a:srgbClr val="C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30788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886F15-1D4E-47A5-944C-CF6F1CE14B6E}"/>
                  </a:ext>
                </a:extLst>
              </p:cNvPr>
              <p:cNvSpPr txBox="1"/>
              <p:nvPr/>
            </p:nvSpPr>
            <p:spPr>
              <a:xfrm>
                <a:off x="1131883" y="5717486"/>
                <a:ext cx="9420133" cy="741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一个基学习器评估示例：如果只考虑多标签</a:t>
                </a:r>
                <a:r>
                  <a:rPr lang="en-US" altLang="zh-CN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Hamming Loss</a:t>
                </a:r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，那么学习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000" b="0" i="1" kern="10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会当选，但它们对标签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kern="1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显然没有分类能力</a:t>
                </a:r>
                <a:endPara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886F15-1D4E-47A5-944C-CF6F1CE14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883" y="5717486"/>
                <a:ext cx="9420133" cy="741806"/>
              </a:xfrm>
              <a:prstGeom prst="rect">
                <a:avLst/>
              </a:prstGeom>
              <a:blipFill>
                <a:blip r:embed="rId5"/>
                <a:stretch>
                  <a:fillRect l="-2071" t="-6557" r="-1942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EA2398DA-11A0-4183-9B41-72D338826895}"/>
              </a:ext>
            </a:extLst>
          </p:cNvPr>
          <p:cNvSpPr txBox="1"/>
          <p:nvPr/>
        </p:nvSpPr>
        <p:spPr>
          <a:xfrm>
            <a:off x="9040759" y="6088389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5-1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615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584639" y="1179988"/>
            <a:ext cx="1051462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MLDE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的模型设计：灵活的、更适应多标签任务的动态选择集成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47DFC4-3C29-42BA-ACDF-E2100B3A50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573" y="1948455"/>
            <a:ext cx="3334483" cy="29610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BA22D7-36A9-4530-BF42-C238A88FC8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99" y="1948455"/>
            <a:ext cx="2900305" cy="296109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18C3425-A161-4234-A5D6-8248B36E2568}"/>
              </a:ext>
            </a:extLst>
          </p:cNvPr>
          <p:cNvSpPr txBox="1"/>
          <p:nvPr/>
        </p:nvSpPr>
        <p:spPr>
          <a:xfrm>
            <a:off x="1860573" y="5101764"/>
            <a:ext cx="3334483" cy="40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分标签基于准确率的选择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6E7FCA-169A-4054-8E21-F301FF6FBFB2}"/>
              </a:ext>
            </a:extLst>
          </p:cNvPr>
          <p:cNvSpPr txBox="1"/>
          <p:nvPr/>
        </p:nvSpPr>
        <p:spPr>
          <a:xfrm>
            <a:off x="6350698" y="5101764"/>
            <a:ext cx="2900306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基于排序的选择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A4793C-D393-473A-8EA1-676814C82D07}"/>
              </a:ext>
            </a:extLst>
          </p:cNvPr>
          <p:cNvSpPr txBox="1"/>
          <p:nvPr/>
        </p:nvSpPr>
        <p:spPr>
          <a:xfrm>
            <a:off x="7948806" y="5678012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5-2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5219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584639" y="1179988"/>
            <a:ext cx="1051462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MLDE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的模型设计：整体流程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34FC20-C08E-4EFF-8C81-1F65CD71A1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682" y="1934639"/>
            <a:ext cx="8776636" cy="41512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090AC8-DA52-45EB-BF63-563F23079E24}"/>
              </a:ext>
            </a:extLst>
          </p:cNvPr>
          <p:cNvSpPr txBox="1"/>
          <p:nvPr/>
        </p:nvSpPr>
        <p:spPr>
          <a:xfrm>
            <a:off x="8437077" y="5682641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5-1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8429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/>
              <p:nvPr/>
            </p:nvSpPr>
            <p:spPr>
              <a:xfrm>
                <a:off x="653860" y="1291816"/>
                <a:ext cx="10514622" cy="2259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MLDE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的模型设计：针对</a:t>
                </a:r>
                <a:r>
                  <a:rPr lang="zh-CN" alt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数据流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的学习器更新策略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初始化：训练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个基学习器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更新：在一个数据段结束后，补充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个基学习器，替换掉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个性能差的，保持基学习器总数不变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0" y="1291816"/>
                <a:ext cx="10514622" cy="2259465"/>
              </a:xfrm>
              <a:prstGeom prst="rect">
                <a:avLst/>
              </a:prstGeom>
              <a:blipFill>
                <a:blip r:embed="rId4"/>
                <a:stretch>
                  <a:fillRect l="-870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87584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/>
              <p:nvPr/>
            </p:nvSpPr>
            <p:spPr>
              <a:xfrm>
                <a:off x="653860" y="1291816"/>
                <a:ext cx="10514622" cy="3475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MLDE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：让懒惰学习积极化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缩短响应时间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建立实例树，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降低</a:t>
                </a:r>
                <a:r>
                  <a:rPr lang="en-US" altLang="zh-CN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knn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搜索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用时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将基学习器在训练实例上的性能表现储存，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用查表代替学习器评估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个基学习器在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个实例上的排序损失记录为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未知实例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在训练集的近邻下标为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2,4,6,7,8</m:t>
                        </m:r>
                      </m:e>
                    </m:d>
                  </m:oMath>
                </a14:m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，不必计算基学习器对这些实例预测值和评估值，直接查表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0" y="1291816"/>
                <a:ext cx="10514622" cy="3475182"/>
              </a:xfrm>
              <a:prstGeom prst="rect">
                <a:avLst/>
              </a:prstGeom>
              <a:blipFill>
                <a:blip r:embed="rId4"/>
                <a:stretch>
                  <a:fillRect l="-870" b="-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64539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8B8919-9BA4-4D32-B857-086F426AAD91}"/>
              </a:ext>
            </a:extLst>
          </p:cNvPr>
          <p:cNvSpPr txBox="1"/>
          <p:nvPr/>
        </p:nvSpPr>
        <p:spPr>
          <a:xfrm>
            <a:off x="695119" y="977641"/>
            <a:ext cx="10242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种情况（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常规多标签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、多标签数据流）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7F21D33-3354-44F0-8BFF-9B6A59CC8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92121"/>
              </p:ext>
            </p:extLst>
          </p:nvPr>
        </p:nvGraphicFramePr>
        <p:xfrm>
          <a:off x="653860" y="1956925"/>
          <a:ext cx="11016000" cy="4528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BOOMER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ACkEL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MLWSE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DECC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MLDE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0.4394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0.4238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0.3139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0.4238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0.4658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0.4996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0.4883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0.3697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0.4863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0.4742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4341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9898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Hamming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0.1317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0.1902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0.1585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0.1318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0.1412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0.1220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23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7462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Coverage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0.5538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0.4041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0.4978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0.3954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0292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9532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0.2911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0.4507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0.2764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0.1601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0.2303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0.1415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882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8082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Average Precision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0.6069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0.5519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0.6584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0.6140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0.6927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56296C9-0EAE-4599-A2C7-F50B7ABADE06}"/>
              </a:ext>
            </a:extLst>
          </p:cNvPr>
          <p:cNvSpPr txBox="1"/>
          <p:nvPr/>
        </p:nvSpPr>
        <p:spPr>
          <a:xfrm>
            <a:off x="8478902" y="1461341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5-3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5-8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0012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8B8919-9BA4-4D32-B857-086F426AAD91}"/>
              </a:ext>
            </a:extLst>
          </p:cNvPr>
          <p:cNvSpPr txBox="1"/>
          <p:nvPr/>
        </p:nvSpPr>
        <p:spPr>
          <a:xfrm>
            <a:off x="695120" y="977641"/>
            <a:ext cx="10083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）实验结果对比：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个数据集、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个评价指标、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个对比算法、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种情况（常规多标签、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多标签数据流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45E9FD-DF0F-42A4-A531-511AEC1CD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63207"/>
              </p:ext>
            </p:extLst>
          </p:nvPr>
        </p:nvGraphicFramePr>
        <p:xfrm>
          <a:off x="653860" y="1956925"/>
          <a:ext cx="11016000" cy="4528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6388384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9674247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4785287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92873293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59812883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24367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1737351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12336641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GOOWE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SAMPNN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SAkNN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AEkNNS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WENN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MLDE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0356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zh-CN" sz="1900" b="1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0.2386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0.2927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0.2903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0.2870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0.2871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0.3283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93180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8603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0.2958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0.3563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0.3533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0.3482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0.3483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0.3857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4341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2.75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3.75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9898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Hamming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0.2173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0.2175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0.2162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0.2160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0.1900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23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57462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Coverage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0.5773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0.5399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0.5381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0.4977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20292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95325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Ranking Loss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0.3611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0.3088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0.3110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0.3077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0.3049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0.2615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882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80824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9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Average Precision</a:t>
                      </a:r>
                      <a:endParaRPr lang="zh-CN" sz="19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均值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0.4720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0.5136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0.5177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0.5632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09597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平均排名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0347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8D7A5DC-CCD7-4C4B-8027-F8C34077B84C}"/>
              </a:ext>
            </a:extLst>
          </p:cNvPr>
          <p:cNvSpPr txBox="1"/>
          <p:nvPr/>
        </p:nvSpPr>
        <p:spPr>
          <a:xfrm>
            <a:off x="8478902" y="1461341"/>
            <a:ext cx="346156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来自学位论文表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5-9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5-14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7262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8B8919-9BA4-4D32-B857-086F426AAD91}"/>
              </a:ext>
            </a:extLst>
          </p:cNvPr>
          <p:cNvSpPr txBox="1"/>
          <p:nvPr/>
        </p:nvSpPr>
        <p:spPr>
          <a:xfrm>
            <a:off x="720000" y="1110422"/>
            <a:ext cx="10083522" cy="493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）运行时间对比（训练时间）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A410CD-7C01-4A23-B60F-DFE32627FB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603570"/>
            <a:ext cx="9456160" cy="468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5FD7AC5-1850-4313-80FA-7E66DC1CC67E}"/>
              </a:ext>
            </a:extLst>
          </p:cNvPr>
          <p:cNvSpPr txBox="1"/>
          <p:nvPr/>
        </p:nvSpPr>
        <p:spPr>
          <a:xfrm>
            <a:off x="6981140" y="6265814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5-4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5768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8B8919-9BA4-4D32-B857-086F426AAD91}"/>
              </a:ext>
            </a:extLst>
          </p:cNvPr>
          <p:cNvSpPr txBox="1"/>
          <p:nvPr/>
        </p:nvSpPr>
        <p:spPr>
          <a:xfrm>
            <a:off x="720000" y="1110422"/>
            <a:ext cx="10083522" cy="493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）运行时间对比（</a:t>
            </a:r>
            <a:r>
              <a:rPr lang="zh-CN" altLang="en-US" sz="2400" b="1" u="sng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C96AC7-195D-4694-A885-3E96E14F39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603570"/>
            <a:ext cx="9448138" cy="468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F0880B3-469E-4E76-B28D-1C9F15F8968B}"/>
              </a:ext>
            </a:extLst>
          </p:cNvPr>
          <p:cNvSpPr txBox="1"/>
          <p:nvPr/>
        </p:nvSpPr>
        <p:spPr>
          <a:xfrm>
            <a:off x="6981140" y="6265814"/>
            <a:ext cx="3022514" cy="403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288000" algn="ctr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来自学位论文图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5-5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2155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多标签动态选择集成算法及其在数据流中的应用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/>
              <p:nvPr/>
            </p:nvSpPr>
            <p:spPr>
              <a:xfrm>
                <a:off x="653860" y="1291816"/>
                <a:ext cx="10514622" cy="41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MLDE</a:t>
                </a:r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还具有很高的可并行度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MLDE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BR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方法构建基学习器，即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个基学习器，每个由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个单标签学习器独立构成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已有算法的并行度不高：</a:t>
                </a:r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Boosting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方法串行训练基学习器（针对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个基学习器）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Stacking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方法中基学习器和元学习器只能先后训练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所有集成方法中的基学习器（针对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个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标签）往往不能并行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MLDE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可以</a:t>
                </a:r>
                <a:r>
                  <a:rPr lang="zh-CN" altLang="en-US" sz="22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完全并行</a:t>
                </a:r>
                <a:r>
                  <a:rPr lang="zh-CN" altLang="en-US" sz="22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：理论上其训练时间和测试时间均可降低到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𝑅𝑐</m:t>
                        </m:r>
                      </m:den>
                    </m:f>
                  </m:oMath>
                </a14:m>
                <a:endParaRPr lang="en-US" altLang="zh-CN" sz="22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0" y="1291816"/>
                <a:ext cx="10514622" cy="4119846"/>
              </a:xfrm>
              <a:prstGeom prst="rect">
                <a:avLst/>
              </a:prstGeom>
              <a:blipFill>
                <a:blip r:embed="rId4"/>
                <a:stretch>
                  <a:fillRect l="-870" b="-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52189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3FD3D6-D5E8-40F0-A1B9-165AA8C9CA3F}"/>
              </a:ext>
            </a:extLst>
          </p:cNvPr>
          <p:cNvGrpSpPr/>
          <p:nvPr/>
        </p:nvGrpSpPr>
        <p:grpSpPr>
          <a:xfrm>
            <a:off x="-1" y="1250721"/>
            <a:ext cx="12192000" cy="3939540"/>
            <a:chOff x="1523999" y="1250721"/>
            <a:chExt cx="9144001" cy="3939540"/>
          </a:xfrm>
        </p:grpSpPr>
        <p:sp>
          <p:nvSpPr>
            <p:cNvPr id="2" name="矩形 1"/>
            <p:cNvSpPr/>
            <p:nvPr/>
          </p:nvSpPr>
          <p:spPr>
            <a:xfrm>
              <a:off x="1524000" y="2447925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299130" y="1250721"/>
              <a:ext cx="2595903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0" b="0" i="0" u="none" strike="noStrike" kern="1200" cap="none" spc="0" normalizeH="0" baseline="0" noProof="0">
                  <a:ln w="28575">
                    <a:solidFill>
                      <a:prstClr val="white"/>
                    </a:solidFill>
                  </a:ln>
                  <a:gradFill flip="none" rotWithShape="1">
                    <a:gsLst>
                      <a:gs pos="0">
                        <a:srgbClr val="30579B">
                          <a:shade val="30000"/>
                          <a:satMod val="115000"/>
                        </a:srgbClr>
                      </a:gs>
                      <a:gs pos="50000">
                        <a:srgbClr val="30579B">
                          <a:shade val="67500"/>
                          <a:satMod val="115000"/>
                        </a:srgbClr>
                      </a:gs>
                      <a:gs pos="100000">
                        <a:srgbClr val="30579B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Franklin Gothic Demi Cond" panose="020B0706030402020204" pitchFamily="34" charset="0"/>
                  <a:ea typeface="黑体"/>
                  <a:cs typeface="+mn-cs"/>
                </a:rPr>
                <a:t>03</a:t>
              </a:r>
              <a:endParaRPr kumimoji="0" lang="zh-CN" altLang="en-US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黑体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23999" y="2840205"/>
              <a:ext cx="5775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1" i="0" u="none" strike="noStrike" kern="1200" cap="none" spc="0" normalizeH="0" baseline="0" noProof="0">
                  <a:ln>
                    <a:noFill/>
                  </a:ln>
                  <a:solidFill>
                    <a:srgbClr val="3763B1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研究总结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91600" y="180000"/>
            <a:ext cx="2521867" cy="6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76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3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研究总结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14DD78-CAF2-4481-9F9D-F6613AE7C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40945"/>
              </p:ext>
            </p:extLst>
          </p:nvPr>
        </p:nvGraphicFramePr>
        <p:xfrm>
          <a:off x="146893" y="1446285"/>
          <a:ext cx="11882009" cy="41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173">
                  <a:extLst>
                    <a:ext uri="{9D8B030D-6E8A-4147-A177-3AD203B41FA5}">
                      <a16:colId xmlns:a16="http://schemas.microsoft.com/office/drawing/2014/main" val="368637635"/>
                    </a:ext>
                  </a:extLst>
                </a:gridCol>
                <a:gridCol w="1114836">
                  <a:extLst>
                    <a:ext uri="{9D8B030D-6E8A-4147-A177-3AD203B41FA5}">
                      <a16:colId xmlns:a16="http://schemas.microsoft.com/office/drawing/2014/main" val="3611988490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59174404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558551343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81901953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算法</a:t>
                      </a:r>
                      <a:endParaRPr lang="zh-CN" altLang="en-US" sz="18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场景</a:t>
                      </a:r>
                      <a:endParaRPr lang="zh-CN" altLang="en-US" sz="18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针对任务特性</a:t>
                      </a:r>
                      <a:endParaRPr lang="zh-CN" altLang="en-US" sz="18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基学习器多样性</a:t>
                      </a:r>
                      <a:endParaRPr lang="zh-CN" altLang="en-US" sz="18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模型复杂度</a:t>
                      </a:r>
                      <a:endParaRPr lang="zh-CN" altLang="en-US" sz="18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81609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ABC2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常规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多路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AdaBoost (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标签差异性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启发式分类器链 </a:t>
                      </a: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错误累积</a:t>
                      </a: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启发式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链顺序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不同长度的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链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迭代轮次更少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无代价确定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链顺序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0126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HEPR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标签缺陷</a:t>
                      </a:r>
                      <a:endParaRPr lang="en-US" altLang="zh-CN" sz="180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弱监督</a:t>
                      </a: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PT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的标签对排序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针对弱监督的二元相关性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在不同的基学习器中</a:t>
                      </a:r>
                      <a:endParaRPr lang="en-US" altLang="zh-CN" sz="180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训练实例不同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训练实例权重不同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基学习器数量剪枝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训练实例数量缩减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04773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SCTM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半监督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融合多种半监督手段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单轮协同训练减少伪标签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多视图学习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CC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BR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两种基学习器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协同训练：训练实例不同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多视图基学习器</a:t>
                      </a:r>
                      <a:endParaRPr lang="en-US" altLang="zh-CN" sz="180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单轮协同训练</a:t>
                      </a:r>
                      <a:endParaRPr lang="en-US" altLang="zh-CN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CN" alt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增强基学习器只使用伪标签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5341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MLDE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常规</a:t>
                      </a:r>
                      <a:endParaRPr lang="en-US" altLang="zh-CN" sz="180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数据流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分标签汉明损失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汉明损失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排序损失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自助采样</a:t>
                      </a:r>
                      <a:b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两种动态选择机制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实例树代替</a:t>
                      </a: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kNN</a:t>
                      </a:r>
                      <a:b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altLang="en-US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查表代替懒惰学习</a:t>
                      </a:r>
                      <a:endParaRPr lang="zh-CN" altLang="en-US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16145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73754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3FD3D6-D5E8-40F0-A1B9-165AA8C9CA3F}"/>
              </a:ext>
            </a:extLst>
          </p:cNvPr>
          <p:cNvGrpSpPr/>
          <p:nvPr/>
        </p:nvGrpSpPr>
        <p:grpSpPr>
          <a:xfrm>
            <a:off x="-1" y="1250721"/>
            <a:ext cx="12192000" cy="3939540"/>
            <a:chOff x="1523999" y="1250721"/>
            <a:chExt cx="9144001" cy="3939540"/>
          </a:xfrm>
        </p:grpSpPr>
        <p:sp>
          <p:nvSpPr>
            <p:cNvPr id="2" name="矩形 1"/>
            <p:cNvSpPr/>
            <p:nvPr/>
          </p:nvSpPr>
          <p:spPr>
            <a:xfrm>
              <a:off x="1524000" y="2447925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299130" y="1250721"/>
              <a:ext cx="2617015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0" b="0" i="0" u="none" strike="noStrike" kern="1200" cap="none" spc="0" normalizeH="0" baseline="0" noProof="0">
                  <a:ln w="28575">
                    <a:solidFill>
                      <a:prstClr val="white"/>
                    </a:solidFill>
                  </a:ln>
                  <a:gradFill flip="none" rotWithShape="1">
                    <a:gsLst>
                      <a:gs pos="0">
                        <a:srgbClr val="30579B">
                          <a:shade val="30000"/>
                          <a:satMod val="115000"/>
                        </a:srgbClr>
                      </a:gs>
                      <a:gs pos="50000">
                        <a:srgbClr val="30579B">
                          <a:shade val="67500"/>
                          <a:satMod val="115000"/>
                        </a:srgbClr>
                      </a:gs>
                      <a:gs pos="100000">
                        <a:srgbClr val="30579B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Franklin Gothic Demi Cond" panose="020B0706030402020204" pitchFamily="34" charset="0"/>
                  <a:ea typeface="黑体"/>
                  <a:cs typeface="+mn-cs"/>
                </a:rPr>
                <a:t>04</a:t>
              </a:r>
              <a:endParaRPr kumimoji="0" lang="zh-CN" altLang="en-US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黑体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23999" y="2840205"/>
              <a:ext cx="5775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1" i="0" u="none" strike="noStrike" kern="1200" cap="none" spc="0" normalizeH="0" baseline="0" noProof="0">
                  <a:ln>
                    <a:noFill/>
                  </a:ln>
                  <a:solidFill>
                    <a:srgbClr val="3763B1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rPr>
                <a:t>研究成果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91600" y="180000"/>
            <a:ext cx="2521867" cy="6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8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4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研究成果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D130D-3776-497C-8ACF-04FEC1D58060}"/>
              </a:ext>
            </a:extLst>
          </p:cNvPr>
          <p:cNvSpPr txBox="1"/>
          <p:nvPr/>
        </p:nvSpPr>
        <p:spPr>
          <a:xfrm>
            <a:off x="324899" y="1135000"/>
            <a:ext cx="1134035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[1]	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 Li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Xiaoyan Zhu, Jiayin Wang. AdaBoost. C2: Boosting Classifiers Chains for Multi-Label Classification. AAAI Conference on Artificial Intelligence (AAAI), 2023. (CCF A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会议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对应研究内容一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[2]	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Xiaoyan Zhu, Weichu Zhang, et al. A Ranking-Based Problem Transformation Method for Weakly Supervised Multi-Label Learning. Pattern Recognition, 2024. (CCF B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期刊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中科院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对应研究内容二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[3]	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Xiaoyan Zhu, Jiayin Wang. Multi-Label Ranking Loss Minimization for Matrix Completion. AAAI Conference on Artificial Intelligence (AAAI), 2025. (CCF A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会议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研究内容二的扩展应用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[4]	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Xiaoyan Zhu, Hongrui Wang, et al. Stacked Co-Training for Semi-Supervised Multi-Label Learning. Information Sciences, 2024. (CCF B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期刊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中科院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对应研究内容三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[5]	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Tong Zhu, Xiaoyan Zhu, Jiayin Wang. Label-Specific Multi-Label Classification with Entropy Guided Clustering. International Conference on Pattern Recognition (ICPR), 2024. (CCF C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会议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对应研究内容三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2880000">
              <a:spcBef>
                <a:spcPts val="6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[6]	Xiaoyan Zhu,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Jiaxuan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Li, Jingtao Ren, et al. Dynamic Ensemble Learning for Multi-Label Classification. Information Sciences, 2023. (CCF B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期刊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中科院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TOP) (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对应研究内容四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900000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[7]	</a:t>
            </a:r>
            <a:r>
              <a:rPr lang="zh-CN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李佳轩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基于机理和数据的草原放牧策略优化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第十九届中国研究生数学建模竞赛三等奖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中国学位与研究生教育学会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2023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900000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[8]	</a:t>
            </a:r>
            <a:r>
              <a:rPr lang="zh-CN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李佳轩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大规模创新类竞赛的评审方案研究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第二十届中国研究生数学建模竞赛三等奖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中国学位与研究生教育学会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2023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2188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4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研究成果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D130D-3776-497C-8ACF-04FEC1D58060}"/>
              </a:ext>
            </a:extLst>
          </p:cNvPr>
          <p:cNvSpPr txBox="1"/>
          <p:nvPr/>
        </p:nvSpPr>
        <p:spPr>
          <a:xfrm>
            <a:off x="324900" y="1194911"/>
            <a:ext cx="1134035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000" indent="-900000">
              <a:spcAft>
                <a:spcPts val="60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主持科研基金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1200"/>
              </a:spcAft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李佳轩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，朱晓燕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基于排序损失优化的弱监督多标签学习算法研究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西安交通大学基本科研业务费自由探索与创新项目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2023--2024.</a:t>
            </a:r>
          </a:p>
          <a:p>
            <a:pPr marL="576000" indent="-900000">
              <a:spcAft>
                <a:spcPts val="60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在投文章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[1]	Two-Way Classifiers Chain: Designed to Address Error Propagation in Multi-Label Learning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[2]	Multi-Modal Multi-Label Learing for Rare Diseases Detection in Medical Imaging.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其他文章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[1]	Xiaoyan Zhu, Jingtao Ren, Jiayin Wang,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Jiaxuan Li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et al. Automated Machine Learning with Dynamic Ensemble Selection. Applied Intelligence, 2023.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[2]	Yu Zhang, Xiaoyan Zhu, Guopeng He,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Jiaxuan Li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et al. Learning Multi-Behavior User Intent for Session-Based Recommendation. Expert Systems with Applications, 2025.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[3]	Xiaoyan Zhu, Tong Zhu,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Jiaxuan Li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et al. Dual-Channel Graph Contrastive Learning for Multi-Label Classification with Label-Specific Features and Label Correlations. Neural Computing and Applications, 2024.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6000" indent="-900000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[4]	Xiaoyan Zhu, Chenzhen Ying, Jiayin Wang,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Jiaxuan Li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et al. Ensemble of ML-KNN for Classification Algorithm Recommendation. Knowledge-Based Systems, 2021.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7253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3FD3D6-D5E8-40F0-A1B9-165AA8C9CA3F}"/>
              </a:ext>
            </a:extLst>
          </p:cNvPr>
          <p:cNvGrpSpPr/>
          <p:nvPr/>
        </p:nvGrpSpPr>
        <p:grpSpPr>
          <a:xfrm>
            <a:off x="-1" y="1250721"/>
            <a:ext cx="12192000" cy="3939540"/>
            <a:chOff x="1523999" y="1250721"/>
            <a:chExt cx="9144001" cy="3939540"/>
          </a:xfrm>
        </p:grpSpPr>
        <p:sp>
          <p:nvSpPr>
            <p:cNvPr id="2" name="矩形 1"/>
            <p:cNvSpPr/>
            <p:nvPr/>
          </p:nvSpPr>
          <p:spPr>
            <a:xfrm>
              <a:off x="1524000" y="2447925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299130" y="1250721"/>
              <a:ext cx="2595903" cy="3939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0" b="0" i="0" u="none" strike="noStrike" kern="1200" cap="none" spc="0" normalizeH="0" baseline="0" noProof="0">
                  <a:ln w="28575">
                    <a:solidFill>
                      <a:prstClr val="white"/>
                    </a:solidFill>
                  </a:ln>
                  <a:gradFill flip="none" rotWithShape="1">
                    <a:gsLst>
                      <a:gs pos="0">
                        <a:srgbClr val="30579B">
                          <a:shade val="30000"/>
                          <a:satMod val="115000"/>
                        </a:srgbClr>
                      </a:gs>
                      <a:gs pos="50000">
                        <a:srgbClr val="30579B">
                          <a:shade val="67500"/>
                          <a:satMod val="115000"/>
                        </a:srgbClr>
                      </a:gs>
                      <a:gs pos="100000">
                        <a:srgbClr val="30579B">
                          <a:shade val="100000"/>
                          <a:satMod val="115000"/>
                        </a:srgbClr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Franklin Gothic Demi Cond" panose="020B0706030402020204" pitchFamily="34" charset="0"/>
                  <a:ea typeface="黑体"/>
                  <a:cs typeface="+mn-cs"/>
                </a:rPr>
                <a:t>05</a:t>
              </a:r>
              <a:endParaRPr kumimoji="0" lang="zh-CN" altLang="en-US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黑体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23999" y="2840205"/>
              <a:ext cx="57751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b="1">
                  <a:solidFill>
                    <a:srgbClr val="3763B1"/>
                  </a:solidFill>
                  <a:latin typeface="Calibri" panose="020F0502020204030204"/>
                  <a:ea typeface="微软雅黑" panose="020B0503020204020204" pitchFamily="34" charset="-122"/>
                </a:rPr>
                <a:t>质询问题回复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91600" y="180000"/>
            <a:ext cx="2521867" cy="6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61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5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评审专家质询与回复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/>
              <p:nvPr/>
            </p:nvSpPr>
            <p:spPr>
              <a:xfrm>
                <a:off x="653860" y="1291816"/>
                <a:ext cx="10514622" cy="322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</a:rPr>
                  <a:t>明审专家一（蔺杰）：</a:t>
                </a:r>
                <a:endParaRPr lang="en-US" altLang="zh-CN" sz="20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对评价指标的描述不够严谨。公式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(2-17)</a:t>
                </a:r>
                <a:r>
                  <a:rPr lang="zh-CN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中的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rank_ij</a:t>
                </a:r>
                <a:r>
                  <a:rPr lang="zh-CN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没有进一步解释；公式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(2-19)</a:t>
                </a:r>
                <a:r>
                  <a:rPr lang="zh-CN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中只有真实值没有预测值，是否需要改正？如果不是书写错误，也需要做出进一步的特殊解释。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</a:rPr>
                  <a:t>回复：</a:t>
                </a:r>
                <a:endParaRPr lang="en-US" altLang="zh-CN" sz="20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对于公式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(2-17)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𝑟𝑎𝑛𝑘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改为了已定义过的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rk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对于公式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(2-19)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已改为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290FE77-5684-49FF-8B43-FE2F3219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0" y="1291816"/>
                <a:ext cx="10514622" cy="3223896"/>
              </a:xfrm>
              <a:prstGeom prst="rect">
                <a:avLst/>
              </a:prstGeom>
              <a:blipFill>
                <a:blip r:embed="rId4"/>
                <a:stretch>
                  <a:fillRect l="-580" r="-2261" b="-1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3922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5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评审专家质询与回复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653860" y="1291816"/>
            <a:ext cx="10514622" cy="3097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明审专家二（江贺）：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论文针对不同的场景，提出了四种算法。这些算法的源代码是否开源？是否形成了工具？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回复：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源代码已上传到代码开放平台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GitHub</a:t>
            </a:r>
            <a:r>
              <a:rPr lang="zh-CN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，链接附在了论文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1.3</a:t>
            </a:r>
            <a:r>
              <a:rPr lang="zh-CN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节中。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所有代码统一使用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语言编写。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是一种解释型语言，可以无需编译直接运行，具备易安装、可跨平台的优点，已被广泛使用。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6174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893" y="660076"/>
            <a:ext cx="548227" cy="2616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Berlin Sans FB Demi" panose="020E0802020502020306" pitchFamily="34" charset="0"/>
              </a:rPr>
              <a:t>PART</a:t>
            </a:r>
            <a:endParaRPr lang="zh-CN" altLang="en-US" sz="17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36" y="135477"/>
            <a:ext cx="482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Broadway" panose="04040905080B02020502" pitchFamily="82" charset="0"/>
              </a:rPr>
              <a:t>5</a:t>
            </a:r>
            <a:endParaRPr lang="zh-CN" altLang="en-US" sz="36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8384" y="267661"/>
            <a:ext cx="1091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评审专家质询与回复</a:t>
            </a:r>
            <a:endParaRPr lang="en-US" altLang="zh-CN" sz="36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0FE77-5684-49FF-8B43-FE2F32190812}"/>
              </a:ext>
            </a:extLst>
          </p:cNvPr>
          <p:cNvSpPr txBox="1"/>
          <p:nvPr/>
        </p:nvSpPr>
        <p:spPr>
          <a:xfrm>
            <a:off x="653860" y="1291816"/>
            <a:ext cx="10514622" cy="3573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盲审专家：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论文所提方法各种集成方法对基学习器的性能和数量有无要求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回复：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基学习器性能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的要求，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论文在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2.3.5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中分析了不同基学习器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训练算法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对集成学习效果的影响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基学习器数量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的要求，论文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3.3.3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4.3.6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5.3.5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中分别分析了基学习器数量对集成模型性能和效率的影响。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6697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47925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349548" y="254699"/>
            <a:ext cx="2517275" cy="67916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271094" y="5887787"/>
            <a:ext cx="14911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2025</a:t>
            </a:r>
            <a:r>
              <a:rPr lang="zh-CN" altLang="en-US" sz="20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0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C522EE-B707-4666-9287-2C819C1018A9}"/>
              </a:ext>
            </a:extLst>
          </p:cNvPr>
          <p:cNvSpPr/>
          <p:nvPr/>
        </p:nvSpPr>
        <p:spPr>
          <a:xfrm>
            <a:off x="2041004" y="2588270"/>
            <a:ext cx="8109992" cy="124534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</a:pPr>
            <a:r>
              <a:rPr lang="zh-CN" altLang="en-US" sz="7200" b="1" kern="100" dirty="0">
                <a:solidFill>
                  <a:srgbClr val="1557AE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谢谢！</a:t>
            </a:r>
            <a:endParaRPr lang="zh-CN" altLang="zh-CN" sz="7200" b="1" kern="100" dirty="0">
              <a:solidFill>
                <a:srgbClr val="1557AE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321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17934</TotalTime>
  <Words>3903</Words>
  <Application>Microsoft Office PowerPoint</Application>
  <PresentationFormat>宽屏</PresentationFormat>
  <Paragraphs>1131</Paragraphs>
  <Slides>49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7" baseType="lpstr">
      <vt:lpstr>等线</vt:lpstr>
      <vt:lpstr>等线 Light</vt:lpstr>
      <vt:lpstr>黑体</vt:lpstr>
      <vt:lpstr>楷体</vt:lpstr>
      <vt:lpstr>隶书</vt:lpstr>
      <vt:lpstr>宋体</vt:lpstr>
      <vt:lpstr>微软雅黑</vt:lpstr>
      <vt:lpstr>Arial</vt:lpstr>
      <vt:lpstr>Berlin Sans FB Demi</vt:lpstr>
      <vt:lpstr>Broadway</vt:lpstr>
      <vt:lpstr>Calibri</vt:lpstr>
      <vt:lpstr>Calibri Light</vt:lpstr>
      <vt:lpstr>Cambria Math</vt:lpstr>
      <vt:lpstr>Franklin Gothic Demi Cond</vt:lpstr>
      <vt:lpstr>Tahoma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Lijiaxuan</cp:lastModifiedBy>
  <cp:revision>1275</cp:revision>
  <cp:lastPrinted>2015-09-08T03:57:43Z</cp:lastPrinted>
  <dcterms:created xsi:type="dcterms:W3CDTF">2015-09-04T08:06:26Z</dcterms:created>
  <dcterms:modified xsi:type="dcterms:W3CDTF">2026-03-09T13:52:44Z</dcterms:modified>
</cp:coreProperties>
</file>